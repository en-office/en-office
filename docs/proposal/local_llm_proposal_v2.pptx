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49deb23b-9cf0-ac19-ac24-986bf7e665b0}">
          <p14:sldIdLst>
            <p14:sldId id="256"/>
          </p14:sldIdLst>
        </p14:section>
        <p14:section name="01. エグゼクティブサマリー" id="{afd5d012-2f9c-b340-12aa-8132c0a6cc27}">
          <p14:sldIdLst>
            <p14:sldId id="257"/>
          </p14:sldIdLst>
        </p14:section>
        <p14:section name="02. ローカルLLM比較" id="{6698cebe-60d2-bfeb-c14d-d2ef6561682f}">
          <p14:sldIdLst>
            <p14:sldId id="258"/>
          </p14:sldIdLst>
        </p14:section>
        <p14:section name="03. 推奨PC・ハードウェア構成（デスクトップ）" id="{425327ce-7ce1-4722-e3d0-5947599e0dd6}">
          <p14:sldIdLst>
            <p14:sldId id="259"/>
          </p14:sldIdLst>
        </p14:section>
        <p14:section name="04. ノートPC構成（オプション）" id="{7fc746c1-3564-915d-2919-e53962a0062e}">
          <p14:sldIdLst>
            <p14:sldId id="260"/>
          </p14:sldIdLst>
        </p14:section>
        <p14:section name="05. 保守AIチャットUI・システムイメージ" id="{63408304-0604-d51a-54d1-7e97a987358c}">
          <p14:sldIdLst>
            <p14:sldId id="261"/>
          </p14:sldIdLst>
        </p14:section>
        <p14:section name="06. 概算費用および導入スケジュール" id="{6e6b1239-2a9d-cb82-6101-9e7784189184}">
          <p14:sldIdLst>
            <p14:sldId id="262"/>
          </p14:sldIdLst>
        </p14:section>
        <p14:section name="07. 本提案の優位性と期待効果" id="{6c784d14-a32c-4641-5ea7-00a7acff8e8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セキュリティルーム向け ローカルLLM導入提案（改訂版）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セキュリティルーム内で完結する安全かつ高速なAI保守支援基盤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システム保守・エラー解析に最適な欧米オープンモデル選定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PC購入予算70万円以内で選べる2つの構成案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省スペース・可搬性が必須の場合のノートPC構成案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ブラウザで直感的に使える保守チャットインターフェース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PC調達・キッティング・環境構築・初期調整までの一括導入プラン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機密保持・費用の見通し・障害対応の平準化を同時に達成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30352" y="1737360"/>
            <a:ext cx="11130991" cy="1188720"/>
          </a:xfrm>
          <a:prstGeom prst="rect">
            <a:avLst/>
          </a:prstGeom>
          <a:noFill/>
          <a:ln/>
        </p:spPr>
        <p:txBody>
          <a:bodyPr wrap="square"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セキュリティルーム向け ローカルLLM導入提案（改訂版）</a:t>
            </a:r>
            <a:endParaRPr lang="en-US" sz="3000" dirty="0"/>
          </a:p>
        </p:txBody>
      </p:sp>
      <p:sp>
        <p:nvSpPr>
          <p:cNvPr id="3" name="Text 1"/>
          <p:cNvSpPr txBox="1"/>
          <p:nvPr/>
        </p:nvSpPr>
        <p:spPr>
          <a:xfrm>
            <a:off x="530352" y="3017520"/>
            <a:ext cx="11130991" cy="457200"/>
          </a:xfrm>
          <a:prstGeom prst="rect">
            <a:avLst/>
          </a:prstGeom>
          <a:noFill/>
          <a:ln/>
        </p:spPr>
        <p:txBody>
          <a:bodyPr wrap="square" rtlCol="0" anchor="ctr"/>
          <a:lstStyle/>
          <a:p>
            <a:pPr algn="ctr" indent="0" marL="0">
              <a:buNone/>
            </a:pPr>
            <a:r>
              <a:rPr lang="en-US" sz="1700" dirty="0">
                <a:solidFill>
                  <a:srgbClr val="E8DCC3"/>
                </a:solidFill>
                <a:latin typeface="Meiryo" pitchFamily="34" charset="0"/>
                <a:ea typeface="Meiryo" pitchFamily="34" charset="-122"/>
                <a:cs typeface="Meiryo" pitchFamily="34" charset="-120"/>
              </a:rPr>
              <a:t>完全オフラインAIによるシステム保守・エラー解析の効率化</a:t>
            </a:r>
            <a:endParaRPr lang="en-US" sz="1700" dirty="0"/>
          </a:p>
        </p:txBody>
      </p:sp>
      <p:sp>
        <p:nvSpPr>
          <p:cNvPr id="4" name="Shape 2"/>
          <p:cNvSpPr/>
          <p:nvPr/>
        </p:nvSpPr>
        <p:spPr>
          <a:xfrm>
            <a:off x="3200400" y="3886200"/>
            <a:ext cx="5790895" cy="0"/>
          </a:xfrm>
          <a:prstGeom prst="line">
            <a:avLst/>
          </a:prstGeom>
          <a:noFill/>
          <a:ln w="12700">
            <a:solidFill>
              <a:srgbClr val="3A4A75"/>
            </a:solidFill>
            <a:prstDash val="solid"/>
          </a:ln>
        </p:spPr>
      </p:sp>
      <p:sp>
        <p:nvSpPr>
          <p:cNvPr id="5" name="Text 3"/>
          <p:cNvSpPr txBox="1"/>
          <p:nvPr/>
        </p:nvSpPr>
        <p:spPr>
          <a:xfrm>
            <a:off x="530352" y="4023360"/>
            <a:ext cx="11130991" cy="457200"/>
          </a:xfrm>
          <a:prstGeom prst="rect">
            <a:avLst/>
          </a:prstGeom>
          <a:noFill/>
          <a:ln/>
        </p:spPr>
        <p:txBody>
          <a:bodyPr wrap="square" rtlCol="0" anchor="ctr"/>
          <a:lstStyle/>
          <a:p>
            <a:pPr algn="ctr" indent="0" marL="0">
              <a:buNone/>
            </a:pPr>
            <a:r>
              <a:rPr lang="en-US" sz="1200" dirty="0">
                <a:solidFill>
                  <a:srgbClr val="C9D2E6"/>
                </a:solidFill>
                <a:latin typeface="Meiryo" pitchFamily="34" charset="0"/>
                <a:ea typeface="Meiryo" pitchFamily="34" charset="-122"/>
                <a:cs typeface="Meiryo" pitchFamily="34" charset="-120"/>
              </a:rPr>
              <a:t>欧米オープンモデル選定（商用ライセンス確認済み） | PC購入予算70万円以内の構成 | 保守チャットUI | 導入概算費用</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01. エグゼクティブサマリー</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セキュリティルーム内で完結する安全かつ高速なAI保守支援基盤</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インターネット非接続の専用PCにローカルLLMを構築し、エラーログ解析の一次対応を支援します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2</a:t>
            </a:r>
            <a:endParaRPr lang="en-US" sz="900" dirty="0"/>
          </a:p>
        </p:txBody>
      </p:sp>
      <p:sp>
        <p:nvSpPr>
          <p:cNvPr id="6" name="Shape 4"/>
          <p:cNvSpPr/>
          <p:nvPr/>
        </p:nvSpPr>
        <p:spPr>
          <a:xfrm>
            <a:off x="530352" y="1572768"/>
            <a:ext cx="3576218" cy="3347618"/>
          </a:xfrm>
          <a:prstGeom prst="roundRect">
            <a:avLst>
              <a:gd name="adj" fmla="val 2731"/>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7" name="Text 5"/>
          <p:cNvSpPr txBox="1"/>
          <p:nvPr/>
        </p:nvSpPr>
        <p:spPr>
          <a:xfrm>
            <a:off x="694944" y="1737360"/>
            <a:ext cx="3247034"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完全オフライン（エアギャップ運用）</a:t>
            </a:r>
            <a:endParaRPr lang="en-US" sz="1400" dirty="0"/>
          </a:p>
        </p:txBody>
      </p:sp>
      <p:sp>
        <p:nvSpPr>
          <p:cNvPr id="8" name="Text 6"/>
          <p:cNvSpPr txBox="1"/>
          <p:nvPr/>
        </p:nvSpPr>
        <p:spPr>
          <a:xfrm>
            <a:off x="694944" y="2068830"/>
            <a:ext cx="3247034" cy="244602"/>
          </a:xfrm>
          <a:prstGeom prst="rect">
            <a:avLst/>
          </a:prstGeom>
          <a:noFill/>
          <a:ln/>
        </p:spPr>
        <p:txBody>
          <a:bodyPr wrap="square" lIns="254" tIns="254" rIns="254" bIns="254" rtlCol="0" anchor="t"/>
          <a:lstStyle/>
          <a:p>
            <a:pPr indent="0" marL="0">
              <a:buNone/>
            </a:pPr>
            <a:r>
              <a:rPr lang="en-US" sz="1000" b="1" dirty="0">
                <a:solidFill>
                  <a:srgbClr val="C98A2B"/>
                </a:solidFill>
                <a:latin typeface="Meiryo" pitchFamily="34" charset="0"/>
                <a:ea typeface="Meiryo" pitchFamily="34" charset="-122"/>
                <a:cs typeface="Meiryo" pitchFamily="34" charset="-120"/>
              </a:rPr>
              <a:t>セキュリティ</a:t>
            </a:r>
            <a:endParaRPr lang="en-US" sz="1000" dirty="0"/>
          </a:p>
        </p:txBody>
      </p:sp>
      <p:sp>
        <p:nvSpPr>
          <p:cNvPr id="9" name="Text 7"/>
          <p:cNvSpPr txBox="1"/>
          <p:nvPr/>
        </p:nvSpPr>
        <p:spPr>
          <a:xfrm>
            <a:off x="694944" y="2350008"/>
            <a:ext cx="3247034" cy="1775460"/>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インターネット非接続のセキュリティルーム内に専用PCを配置</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機密ログ・ソースコード・障害データの外部ネットワークへの送信リスクを排除</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社内セキュリティポリシーに準拠した構成（無線撤去・USB制御・ワイヤーロック）</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モデル・OS更新は承認済み媒体による持ち込み手順を整備</a:t>
            </a:r>
            <a:endParaRPr lang="en-US" sz="1150" dirty="0"/>
          </a:p>
        </p:txBody>
      </p:sp>
      <p:sp>
        <p:nvSpPr>
          <p:cNvPr id="10" name="Shape 8"/>
          <p:cNvSpPr/>
          <p:nvPr/>
        </p:nvSpPr>
        <p:spPr>
          <a:xfrm>
            <a:off x="4307738" y="1572768"/>
            <a:ext cx="3576218" cy="3347618"/>
          </a:xfrm>
          <a:prstGeom prst="roundRect">
            <a:avLst>
              <a:gd name="adj" fmla="val 2731"/>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11" name="Text 9"/>
          <p:cNvSpPr txBox="1"/>
          <p:nvPr/>
        </p:nvSpPr>
        <p:spPr>
          <a:xfrm>
            <a:off x="4472330" y="1737360"/>
            <a:ext cx="3247034"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保守・エラーログ解析の支援</a:t>
            </a:r>
            <a:endParaRPr lang="en-US" sz="1400" dirty="0"/>
          </a:p>
        </p:txBody>
      </p:sp>
      <p:sp>
        <p:nvSpPr>
          <p:cNvPr id="12" name="Text 10"/>
          <p:cNvSpPr txBox="1"/>
          <p:nvPr/>
        </p:nvSpPr>
        <p:spPr>
          <a:xfrm>
            <a:off x="4472330" y="2068830"/>
            <a:ext cx="3247034" cy="244602"/>
          </a:xfrm>
          <a:prstGeom prst="rect">
            <a:avLst/>
          </a:prstGeom>
          <a:noFill/>
          <a:ln/>
        </p:spPr>
        <p:txBody>
          <a:bodyPr wrap="square" lIns="254" tIns="254" rIns="254" bIns="254" rtlCol="0" anchor="t"/>
          <a:lstStyle/>
          <a:p>
            <a:pPr indent="0" marL="0">
              <a:buNone/>
            </a:pPr>
            <a:r>
              <a:rPr lang="en-US" sz="1000" b="1" dirty="0">
                <a:solidFill>
                  <a:srgbClr val="C98A2B"/>
                </a:solidFill>
                <a:latin typeface="Meiryo" pitchFamily="34" charset="0"/>
                <a:ea typeface="Meiryo" pitchFamily="34" charset="-122"/>
                <a:cs typeface="Meiryo" pitchFamily="34" charset="-120"/>
              </a:rPr>
              <a:t>業務効率化</a:t>
            </a:r>
            <a:endParaRPr lang="en-US" sz="1000" dirty="0"/>
          </a:p>
        </p:txBody>
      </p:sp>
      <p:sp>
        <p:nvSpPr>
          <p:cNvPr id="13" name="Text 11"/>
          <p:cNvSpPr txBox="1"/>
          <p:nvPr/>
        </p:nvSpPr>
        <p:spPr>
          <a:xfrm>
            <a:off x="4472330" y="2350008"/>
            <a:ext cx="3247034" cy="1540193"/>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スタックトレースやシステムログを入力すると「原因推測」「緊急度」「一次対応手順」を構造化して出力</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属人化しやすい一次対応の叩き台を即時に生成し、切り分け時間を短縮</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AIの出力は参考情報として扱い、最終判断は担当者が行う運用ルールを明記</a:t>
            </a:r>
            <a:endParaRPr lang="en-US" sz="1150" dirty="0"/>
          </a:p>
        </p:txBody>
      </p:sp>
      <p:sp>
        <p:nvSpPr>
          <p:cNvPr id="14" name="Shape 12"/>
          <p:cNvSpPr/>
          <p:nvPr/>
        </p:nvSpPr>
        <p:spPr>
          <a:xfrm>
            <a:off x="8085125" y="1572768"/>
            <a:ext cx="3576218" cy="3347618"/>
          </a:xfrm>
          <a:prstGeom prst="roundRect">
            <a:avLst>
              <a:gd name="adj" fmla="val 2731"/>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15" name="Text 13"/>
          <p:cNvSpPr txBox="1"/>
          <p:nvPr/>
        </p:nvSpPr>
        <p:spPr>
          <a:xfrm>
            <a:off x="8249717" y="1737360"/>
            <a:ext cx="3247034"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PC調達からUI構築までワンストップ</a:t>
            </a:r>
            <a:endParaRPr lang="en-US" sz="1400" dirty="0"/>
          </a:p>
        </p:txBody>
      </p:sp>
      <p:sp>
        <p:nvSpPr>
          <p:cNvPr id="16" name="Text 14"/>
          <p:cNvSpPr txBox="1"/>
          <p:nvPr/>
        </p:nvSpPr>
        <p:spPr>
          <a:xfrm>
            <a:off x="8249717" y="2068830"/>
            <a:ext cx="3247034" cy="244602"/>
          </a:xfrm>
          <a:prstGeom prst="rect">
            <a:avLst/>
          </a:prstGeom>
          <a:noFill/>
          <a:ln/>
        </p:spPr>
        <p:txBody>
          <a:bodyPr wrap="square" lIns="254" tIns="254" rIns="254" bIns="254" rtlCol="0" anchor="t"/>
          <a:lstStyle/>
          <a:p>
            <a:pPr indent="0" marL="0">
              <a:buNone/>
            </a:pPr>
            <a:r>
              <a:rPr lang="en-US" sz="1000" b="1" dirty="0">
                <a:solidFill>
                  <a:srgbClr val="C98A2B"/>
                </a:solidFill>
                <a:latin typeface="Meiryo" pitchFamily="34" charset="0"/>
                <a:ea typeface="Meiryo" pitchFamily="34" charset="-122"/>
                <a:cs typeface="Meiryo" pitchFamily="34" charset="-120"/>
              </a:rPr>
              <a:t>導入</a:t>
            </a:r>
            <a:endParaRPr lang="en-US" sz="1000" dirty="0"/>
          </a:p>
        </p:txBody>
      </p:sp>
      <p:sp>
        <p:nvSpPr>
          <p:cNvPr id="17" name="Text 15"/>
          <p:cNvSpPr txBox="1"/>
          <p:nvPr/>
        </p:nvSpPr>
        <p:spPr>
          <a:xfrm>
            <a:off x="8249717" y="2350008"/>
            <a:ext cx="3247034" cy="1343025"/>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PC購入予算70万円以内で、用途に応じた2つの構成案を提示</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ブラウザから使える保守チャットWebUIをキッティングして納品</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導入後すぐに運用を開始可能。年間保守はオプションで提供</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02. ローカルLLM比較</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システム保守・エラー解析に最適な欧米オープンモデル選定</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商用利用可能なライセンスと日本語対応を評価軸に追加。中国製モデル（Qwen、DeepSeek等）は企業方針により比較対象から除外</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3</a:t>
            </a:r>
            <a:endParaRPr lang="en-US" sz="900" dirty="0"/>
          </a:p>
        </p:txBody>
      </p:sp>
      <p:sp>
        <p:nvSpPr>
          <p:cNvPr id="6" name="Text 4"/>
          <p:cNvSpPr txBox="1"/>
          <p:nvPr/>
        </p:nvSpPr>
        <p:spPr>
          <a:xfrm>
            <a:off x="530352" y="5943600"/>
            <a:ext cx="11130991" cy="457200"/>
          </a:xfrm>
          <a:prstGeom prst="rect">
            <a:avLst/>
          </a:prstGeom>
          <a:noFill/>
          <a:ln/>
        </p:spPr>
        <p:txBody>
          <a:bodyPr wrap="square" lIns="0" tIns="0" rIns="0" bIns="0" rtlCol="0" anchor="t"/>
          <a:lstStyle/>
          <a:p>
            <a:pPr indent="0" marL="0">
              <a:buNone/>
            </a:pPr>
            <a:r>
              <a:rPr lang="en-US" sz="900" dirty="0">
                <a:solidFill>
                  <a:srgbClr val="5A6270"/>
                </a:solidFill>
                <a:latin typeface="Meiryo" pitchFamily="34" charset="0"/>
                <a:ea typeface="Meiryo" pitchFamily="34" charset="-122"/>
                <a:cs typeface="Meiryo" pitchFamily="34" charset="-120"/>
              </a:rPr>
              <a:t>※ Codestral 22B は非商用ライセンス（Mistral Non-Production License）のため業務利用には別途契約が必要であり、本提案では除外。Llama 3.3 70B は4bit量子化でも約42GBのVRAMを要するため、GPU 2枚以上を追加する場合の拡張オプションとして位置づけます。</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30352" y="1572768"/>
          <a:ext cx="11130991" cy="914400"/>
        </p:xfrm>
        <a:graphic>
          <a:graphicData uri="http://schemas.openxmlformats.org/drawingml/2006/table">
            <a:tbl>
              <a:tblPr/>
              <a:tblGrid>
                <a:gridCol w="1892269"/>
                <a:gridCol w="1224409"/>
                <a:gridCol w="1669649"/>
                <a:gridCol w="1224409"/>
                <a:gridCol w="1001789"/>
                <a:gridCol w="1224409"/>
                <a:gridCol w="2894058"/>
              </a:tblGrid>
              <a:tr h="329184">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モデル名</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開発元 / 国</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サイズ / VRAM（4bit時）</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ライセンス</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日本語</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保守・解析適性</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特徴および選定理由</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r>
              <a:tr h="956310">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Gemma 4 12B / 26B MoE</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【第一推奨】</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Google（米国）</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12B: 約8〜10GB</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26B MoE: 約16GB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Apache 2.0</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（公式モデルカードで最終確認）</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b="1" dirty="0">
                          <a:solidFill>
                            <a:srgbClr val="2E7D32"/>
                          </a:solidFill>
                          <a:latin typeface="Meiryo" pitchFamily="34" charset="0"/>
                          <a:ea typeface="Meiryo" pitchFamily="34" charset="-122"/>
                          <a:cs typeface="Meiryo" pitchFamily="34" charset="-120"/>
                        </a:rPr>
                        <a:t>◎ 高い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2026年4月公開の最新モデル。日本語ログ解釈力と指示追従性が高い。16GB GPUで12Bは約30〜45トークン/秒。26B MoEは活性4Bで高速だが、長文入力時は16GBでは余裕が少ない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762952">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Gemma 4 31B Dense</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【高精度推奨】</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Google（米国）</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31B: 約18〜24GB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Apache 2.0</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（同上）</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b="1" dirty="0">
                          <a:solidFill>
                            <a:srgbClr val="2E7D32"/>
                          </a:solidFill>
                          <a:latin typeface="Meiryo" pitchFamily="34" charset="0"/>
                          <a:ea typeface="Meiryo" pitchFamily="34" charset="-122"/>
                          <a:cs typeface="Meiryo" pitchFamily="34" charset="-120"/>
                        </a:rPr>
                        <a:t>◎ 高い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複雑なスタックトレースや複数コード横断解析に対応。VRAM 24GB以上（GPU 2枚構成）が必須。単一GPU構成では対象外</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r h="956310">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Devstral Small 2 24B</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【コード特化】</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Mistral AI（フランス）</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24B: 約14〜16GB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Apache 2.0</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 英語中心</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（コード・修正案）</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欧州発のコード解析特化LLM。バグ原因の特定と修正コード生成に強み。日本語の説明文はGemmaに劣るため、コード修正案の生成に用途を限定</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762952">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Phi-4 14B</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【論理推論】</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Microsoft（米国）</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14B: 約9〜10GB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MIT</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 補助的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省メモリで段階的なトラブルシューティング手順の生成に優れる。日本語出力は補助的な位置づけ</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03. 推奨PC・ハードウェア構成（デスクトップ）</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PC購入予算70万円以内で選べる2つの構成案</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価格は2026年10月時点の国内実勢による概算（税抜）。GPU・DDR5メモリは高騰が続いているため、発注時に再見積します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4</a:t>
            </a:r>
            <a:endParaRPr lang="en-US" sz="900" dirty="0"/>
          </a:p>
        </p:txBody>
      </p:sp>
      <p:sp>
        <p:nvSpPr>
          <p:cNvPr id="6" name="Text 4"/>
          <p:cNvSpPr txBox="1"/>
          <p:nvPr/>
        </p:nvSpPr>
        <p:spPr>
          <a:xfrm>
            <a:off x="530352" y="5943600"/>
            <a:ext cx="11130991" cy="457200"/>
          </a:xfrm>
          <a:prstGeom prst="rect">
            <a:avLst/>
          </a:prstGeom>
          <a:noFill/>
          <a:ln/>
        </p:spPr>
        <p:txBody>
          <a:bodyPr wrap="square" lIns="0" tIns="0" rIns="0" bIns="0" rtlCol="0" anchor="t"/>
          <a:lstStyle/>
          <a:p>
            <a:pPr indent="0" marL="0">
              <a:buNone/>
            </a:pPr>
            <a:r>
              <a:rPr lang="en-US" sz="900" dirty="0">
                <a:solidFill>
                  <a:srgbClr val="5A6270"/>
                </a:solidFill>
                <a:latin typeface="Meiryo" pitchFamily="34" charset="0"/>
                <a:ea typeface="Meiryo" pitchFamily="34" charset="-122"/>
                <a:cs typeface="Meiryo" pitchFamily="34" charset="-120"/>
              </a:rPr>
              <a:t>※ セキュリティルーム仕様：無線モジュール物理撤去、有線LANのBIOS無効化、USBポート制御（デバイス制御ソフトまたは物理封止）、カメラ・マイク無効化、盗難防止ワイヤーロック固定を行って納品します。RTX 4090 / 4070 Ti Super は生産終了のため選定対象外です。</a:t>
            </a:r>
            <a:endParaRPr lang="en-US" sz="900" dirty="0"/>
          </a:p>
        </p:txBody>
      </p:sp>
      <p:sp>
        <p:nvSpPr>
          <p:cNvPr id="7" name="Shape 5"/>
          <p:cNvSpPr/>
          <p:nvPr/>
        </p:nvSpPr>
        <p:spPr>
          <a:xfrm>
            <a:off x="530352" y="1572768"/>
            <a:ext cx="5464912" cy="3721418"/>
          </a:xfrm>
          <a:prstGeom prst="roundRect">
            <a:avLst>
              <a:gd name="adj" fmla="val 2457"/>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8" name="Text 6"/>
          <p:cNvSpPr txBox="1"/>
          <p:nvPr/>
        </p:nvSpPr>
        <p:spPr>
          <a:xfrm>
            <a:off x="694944" y="1737360"/>
            <a:ext cx="5135728"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案A：標準構成</a:t>
            </a:r>
            <a:endParaRPr lang="en-US" sz="1400" dirty="0"/>
          </a:p>
        </p:txBody>
      </p:sp>
      <p:sp>
        <p:nvSpPr>
          <p:cNvPr id="9" name="Text 7"/>
          <p:cNvSpPr txBox="1"/>
          <p:nvPr/>
        </p:nvSpPr>
        <p:spPr>
          <a:xfrm>
            <a:off x="694944" y="2068830"/>
            <a:ext cx="5135728" cy="244602"/>
          </a:xfrm>
          <a:prstGeom prst="rect">
            <a:avLst/>
          </a:prstGeom>
          <a:noFill/>
          <a:ln/>
        </p:spPr>
        <p:txBody>
          <a:bodyPr wrap="square" lIns="254" tIns="254" rIns="254" bIns="254" rtlCol="0" anchor="t"/>
          <a:lstStyle/>
          <a:p>
            <a:pPr indent="0" marL="0">
              <a:buNone/>
            </a:pPr>
            <a:r>
              <a:rPr lang="en-US" sz="1000" b="1" dirty="0">
                <a:solidFill>
                  <a:srgbClr val="C98A2B"/>
                </a:solidFill>
                <a:latin typeface="Meiryo" pitchFamily="34" charset="0"/>
                <a:ea typeface="Meiryo" pitchFamily="34" charset="-122"/>
                <a:cs typeface="Meiryo" pitchFamily="34" charset="-120"/>
              </a:rPr>
              <a:t>対象モデル：Gemma 4 12B / 26B MoE、Devstral Small 2 24B、Phi-4 14B</a:t>
            </a:r>
            <a:endParaRPr lang="en-US" sz="1000" dirty="0"/>
          </a:p>
        </p:txBody>
      </p:sp>
      <p:sp>
        <p:nvSpPr>
          <p:cNvPr id="10" name="Text 8"/>
          <p:cNvSpPr txBox="1"/>
          <p:nvPr/>
        </p:nvSpPr>
        <p:spPr>
          <a:xfrm>
            <a:off x="694944" y="2350008"/>
            <a:ext cx="5135728" cy="484632"/>
          </a:xfrm>
          <a:prstGeom prst="rect">
            <a:avLst/>
          </a:prstGeom>
          <a:noFill/>
          <a:ln/>
        </p:spPr>
        <p:txBody>
          <a:bodyPr wrap="square" lIns="254" tIns="254" rIns="254" bIns="254" rtlCol="0" anchor="t"/>
          <a:lstStyle/>
          <a:p>
            <a:pPr indent="0" marL="0">
              <a:buNone/>
            </a:pPr>
            <a:r>
              <a:rPr lang="en-US" sz="2400" b="1" dirty="0">
                <a:solidFill>
                  <a:srgbClr val="14213D"/>
                </a:solidFill>
                <a:latin typeface="Meiryo" pitchFamily="34" charset="0"/>
                <a:ea typeface="Meiryo" pitchFamily="34" charset="-122"/>
                <a:cs typeface="Meiryo" pitchFamily="34" charset="-120"/>
              </a:rPr>
              <a:t>約45〜55万円</a:t>
            </a:r>
            <a:endParaRPr lang="en-US" sz="2400" dirty="0"/>
          </a:p>
        </p:txBody>
      </p:sp>
      <p:sp>
        <p:nvSpPr>
          <p:cNvPr id="11" name="Text 9"/>
          <p:cNvSpPr txBox="1"/>
          <p:nvPr/>
        </p:nvSpPr>
        <p:spPr>
          <a:xfrm>
            <a:off x="694944" y="2871216"/>
            <a:ext cx="5135728" cy="1889760"/>
          </a:xfrm>
          <a:prstGeom prst="rect">
            <a:avLst/>
          </a:prstGeom>
          <a:noFill/>
          <a:ln/>
        </p:spPr>
        <p:txBody>
          <a:bodyPr wrap="square" lIns="254" tIns="254" rIns="254" bIns="254" rtlCol="0" anchor="t"/>
          <a:lstStyle/>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GPU：</a:t>
            </a:r>
            <a:pPr indent="0" marL="0">
              <a:buNone/>
            </a:pPr>
            <a:r>
              <a:rPr lang="en-US" sz="1150" dirty="0">
                <a:solidFill>
                  <a:srgbClr val="1A1A1A"/>
                </a:solidFill>
                <a:latin typeface="Meiryo" pitchFamily="34" charset="0"/>
                <a:ea typeface="Meiryo" pitchFamily="34" charset="-122"/>
                <a:cs typeface="Meiryo" pitchFamily="34" charset="-120"/>
              </a:rPr>
              <a:t>NVIDIA GeForce RTX 5070 Ti 16GB（RTX 5060 Ti 16GBなら約10万円減）</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CPU：</a:t>
            </a:r>
            <a:pPr indent="0" marL="0">
              <a:buNone/>
            </a:pPr>
            <a:r>
              <a:rPr lang="en-US" sz="1150" dirty="0">
                <a:solidFill>
                  <a:srgbClr val="1A1A1A"/>
                </a:solidFill>
                <a:latin typeface="Meiryo" pitchFamily="34" charset="0"/>
                <a:ea typeface="Meiryo" pitchFamily="34" charset="-122"/>
                <a:cs typeface="Meiryo" pitchFamily="34" charset="-120"/>
              </a:rPr>
              <a:t>Intel Core Ultra 7 265 または AMD Ryzen 7 9700X</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メモリ：</a:t>
            </a:r>
            <a:pPr indent="0" marL="0">
              <a:buNone/>
            </a:pPr>
            <a:r>
              <a:rPr lang="en-US" sz="1150" dirty="0">
                <a:solidFill>
                  <a:srgbClr val="1A1A1A"/>
                </a:solidFill>
                <a:latin typeface="Meiryo" pitchFamily="34" charset="0"/>
                <a:ea typeface="Meiryo" pitchFamily="34" charset="-122"/>
                <a:cs typeface="Meiryo" pitchFamily="34" charset="-120"/>
              </a:rPr>
              <a:t>DDR5 64GB（32GB×2）</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ストレージ：</a:t>
            </a:r>
            <a:pPr indent="0" marL="0">
              <a:buNone/>
            </a:pPr>
            <a:r>
              <a:rPr lang="en-US" sz="1150" dirty="0">
                <a:solidFill>
                  <a:srgbClr val="1A1A1A"/>
                </a:solidFill>
                <a:latin typeface="Meiryo" pitchFamily="34" charset="0"/>
                <a:ea typeface="Meiryo" pitchFamily="34" charset="-122"/>
                <a:cs typeface="Meiryo" pitchFamily="34" charset="-120"/>
              </a:rPr>
              <a:t>2TB NVMe SSD（Gen4）</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電源：</a:t>
            </a:r>
            <a:pPr indent="0" marL="0">
              <a:buNone/>
            </a:pPr>
            <a:r>
              <a:rPr lang="en-US" sz="1150" dirty="0">
                <a:solidFill>
                  <a:srgbClr val="1A1A1A"/>
                </a:solidFill>
                <a:latin typeface="Meiryo" pitchFamily="34" charset="0"/>
                <a:ea typeface="Meiryo" pitchFamily="34" charset="-122"/>
                <a:cs typeface="Meiryo" pitchFamily="34" charset="-120"/>
              </a:rPr>
              <a:t>850W 80PLUS Gold以上</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体感速度：</a:t>
            </a:r>
            <a:pPr indent="0" marL="0">
              <a:buNone/>
            </a:pPr>
            <a:r>
              <a:rPr lang="en-US" sz="1150" dirty="0">
                <a:solidFill>
                  <a:srgbClr val="1A1A1A"/>
                </a:solidFill>
                <a:latin typeface="Meiryo" pitchFamily="34" charset="0"/>
                <a:ea typeface="Meiryo" pitchFamily="34" charset="-122"/>
                <a:cs typeface="Meiryo" pitchFamily="34" charset="-120"/>
              </a:rPr>
              <a:t>12Bモデルで約35〜45トークン/秒。ストレスのない応答速度</a:t>
            </a:r>
            <a:endParaRPr lang="en-US" sz="1150" dirty="0"/>
          </a:p>
          <a:p>
            <a:pPr marL="152400" indent="-152400">
              <a:spcAft>
                <a:spcPts val="300"/>
              </a:spcAft>
              <a:buSzPct val="100000"/>
              <a:buChar char="•"/>
            </a:pPr>
            <a:r>
              <a:rPr lang="en-US" sz="1150" b="1" dirty="0">
                <a:solidFill>
                  <a:srgbClr val="1A1A1A"/>
                </a:solidFill>
                <a:latin typeface="Meiryo" pitchFamily="34" charset="0"/>
                <a:ea typeface="Meiryo" pitchFamily="34" charset="-122"/>
                <a:cs typeface="Meiryo" pitchFamily="34" charset="-120"/>
              </a:rPr>
              <a:t>制約：</a:t>
            </a:r>
            <a:pPr indent="0" marL="0">
              <a:buNone/>
            </a:pPr>
            <a:r>
              <a:rPr lang="en-US" sz="1150" dirty="0">
                <a:solidFill>
                  <a:srgbClr val="1A1A1A"/>
                </a:solidFill>
                <a:latin typeface="Meiryo" pitchFamily="34" charset="0"/>
                <a:ea typeface="Meiryo" pitchFamily="34" charset="-122"/>
                <a:cs typeface="Meiryo" pitchFamily="34" charset="-120"/>
              </a:rPr>
              <a:t>Gemma 4 31B DenseはVRAMに収まらず対象外</a:t>
            </a:r>
            <a:endParaRPr lang="en-US" sz="1150" dirty="0"/>
          </a:p>
        </p:txBody>
      </p:sp>
      <p:sp>
        <p:nvSpPr>
          <p:cNvPr id="12" name="Shape 10"/>
          <p:cNvSpPr/>
          <p:nvPr/>
        </p:nvSpPr>
        <p:spPr>
          <a:xfrm>
            <a:off x="6196432" y="1572768"/>
            <a:ext cx="5464912" cy="3721418"/>
          </a:xfrm>
          <a:prstGeom prst="roundRect">
            <a:avLst>
              <a:gd name="adj" fmla="val 2457"/>
            </a:avLst>
          </a:prstGeom>
          <a:solidFill>
            <a:srgbClr val="1F2F57"/>
          </a:solidFill>
          <a:ln w="9525">
            <a:solidFill>
              <a:srgbClr val="1F2F57"/>
            </a:solidFill>
            <a:prstDash val="solid"/>
          </a:ln>
          <a:effectLst>
            <a:outerShdw sx="100000" sy="100000" kx="0" ky="0" algn="bl" rotWithShape="0" blurRad="50800" dist="12700" dir="5400000">
              <a:srgbClr val="000000">
                <a:alpha val="8000"/>
              </a:srgbClr>
            </a:outerShdw>
          </a:effectLst>
        </p:spPr>
      </p:sp>
      <p:sp>
        <p:nvSpPr>
          <p:cNvPr id="13" name="Text 11"/>
          <p:cNvSpPr txBox="1"/>
          <p:nvPr/>
        </p:nvSpPr>
        <p:spPr>
          <a:xfrm>
            <a:off x="6361024" y="1737360"/>
            <a:ext cx="5135728" cy="313182"/>
          </a:xfrm>
          <a:prstGeom prst="rect">
            <a:avLst/>
          </a:prstGeom>
          <a:noFill/>
          <a:ln/>
        </p:spPr>
        <p:txBody>
          <a:bodyPr wrap="square" lIns="254" tIns="254" rIns="254" bIns="254" rtlCol="0" anchor="t"/>
          <a:lstStyle/>
          <a:p>
            <a:pPr indent="0" marL="0">
              <a:buNone/>
            </a:pPr>
            <a:r>
              <a:rPr lang="en-US" sz="1400" b="1" dirty="0">
                <a:solidFill>
                  <a:srgbClr val="F3D9A6"/>
                </a:solidFill>
                <a:latin typeface="Meiryo" pitchFamily="34" charset="0"/>
                <a:ea typeface="Meiryo" pitchFamily="34" charset="-122"/>
                <a:cs typeface="Meiryo" pitchFamily="34" charset="-120"/>
              </a:rPr>
              <a:t>案B：VRAM 32GB構成【推奨】</a:t>
            </a:r>
            <a:endParaRPr lang="en-US" sz="1400" dirty="0"/>
          </a:p>
        </p:txBody>
      </p:sp>
      <p:sp>
        <p:nvSpPr>
          <p:cNvPr id="14" name="Text 12"/>
          <p:cNvSpPr txBox="1"/>
          <p:nvPr/>
        </p:nvSpPr>
        <p:spPr>
          <a:xfrm>
            <a:off x="6361024" y="2068830"/>
            <a:ext cx="5135728" cy="416052"/>
          </a:xfrm>
          <a:prstGeom prst="rect">
            <a:avLst/>
          </a:prstGeom>
          <a:noFill/>
          <a:ln/>
        </p:spPr>
        <p:txBody>
          <a:bodyPr wrap="square" lIns="254" tIns="254" rIns="254" bIns="254" rtlCol="0" anchor="t"/>
          <a:lstStyle/>
          <a:p>
            <a:pPr indent="0" marL="0">
              <a:buNone/>
            </a:pPr>
            <a:r>
              <a:rPr lang="en-US" sz="1000" b="1" dirty="0">
                <a:solidFill>
                  <a:srgbClr val="F3D9A6"/>
                </a:solidFill>
                <a:latin typeface="Meiryo" pitchFamily="34" charset="0"/>
                <a:ea typeface="Meiryo" pitchFamily="34" charset="-122"/>
                <a:cs typeface="Meiryo" pitchFamily="34" charset="-120"/>
              </a:rPr>
              <a:t>対象モデル：案Aのすべて ＋ Gemma 4 31B Dense、Devstral Small 2 24B（8bit高精度）</a:t>
            </a:r>
            <a:endParaRPr lang="en-US" sz="1000" dirty="0"/>
          </a:p>
        </p:txBody>
      </p:sp>
      <p:sp>
        <p:nvSpPr>
          <p:cNvPr id="15" name="Text 13"/>
          <p:cNvSpPr txBox="1"/>
          <p:nvPr/>
        </p:nvSpPr>
        <p:spPr>
          <a:xfrm>
            <a:off x="6361024" y="2521458"/>
            <a:ext cx="5135728" cy="484632"/>
          </a:xfrm>
          <a:prstGeom prst="rect">
            <a:avLst/>
          </a:prstGeom>
          <a:noFill/>
          <a:ln/>
        </p:spPr>
        <p:txBody>
          <a:bodyPr wrap="square" lIns="254" tIns="254" rIns="254" bIns="254" rtlCol="0" anchor="t"/>
          <a:lstStyle/>
          <a:p>
            <a:pPr indent="0" marL="0">
              <a:buNone/>
            </a:pPr>
            <a:r>
              <a:rPr lang="en-US" sz="2400" b="1" dirty="0">
                <a:solidFill>
                  <a:srgbClr val="FFFFFF"/>
                </a:solidFill>
                <a:latin typeface="Meiryo" pitchFamily="34" charset="0"/>
                <a:ea typeface="Meiryo" pitchFamily="34" charset="-122"/>
                <a:cs typeface="Meiryo" pitchFamily="34" charset="-120"/>
              </a:rPr>
              <a:t>約60〜70万円</a:t>
            </a:r>
            <a:endParaRPr lang="en-US" sz="2400" dirty="0"/>
          </a:p>
        </p:txBody>
      </p:sp>
      <p:sp>
        <p:nvSpPr>
          <p:cNvPr id="16" name="Text 14"/>
          <p:cNvSpPr txBox="1"/>
          <p:nvPr/>
        </p:nvSpPr>
        <p:spPr>
          <a:xfrm>
            <a:off x="6361024" y="3042666"/>
            <a:ext cx="5135728" cy="2086928"/>
          </a:xfrm>
          <a:prstGeom prst="rect">
            <a:avLst/>
          </a:prstGeom>
          <a:noFill/>
          <a:ln/>
        </p:spPr>
        <p:txBody>
          <a:bodyPr wrap="square" lIns="254" tIns="254" rIns="254" bIns="254" rtlCol="0" anchor="t"/>
          <a:lstStyle/>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GPU：</a:t>
            </a:r>
            <a:pPr indent="0" marL="0">
              <a:buNone/>
            </a:pPr>
            <a:r>
              <a:rPr lang="en-US" sz="1150" dirty="0">
                <a:solidFill>
                  <a:srgbClr val="FFFFFF"/>
                </a:solidFill>
                <a:latin typeface="Meiryo" pitchFamily="34" charset="0"/>
                <a:ea typeface="Meiryo" pitchFamily="34" charset="-122"/>
                <a:cs typeface="Meiryo" pitchFamily="34" charset="-120"/>
              </a:rPr>
              <a:t>NVIDIA GeForce RTX 5060 Ti 16GB ×2枚（合計32GB VRAM）</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CPU：</a:t>
            </a:r>
            <a:pPr indent="0" marL="0">
              <a:buNone/>
            </a:pPr>
            <a:r>
              <a:rPr lang="en-US" sz="1150" dirty="0">
                <a:solidFill>
                  <a:srgbClr val="FFFFFF"/>
                </a:solidFill>
                <a:latin typeface="Meiryo" pitchFamily="34" charset="0"/>
                <a:ea typeface="Meiryo" pitchFamily="34" charset="-122"/>
                <a:cs typeface="Meiryo" pitchFamily="34" charset="-120"/>
              </a:rPr>
              <a:t>AMD Ryzen 7 9700X または Ryzen 9 9900X</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メモリ：</a:t>
            </a:r>
            <a:pPr indent="0" marL="0">
              <a:buNone/>
            </a:pPr>
            <a:r>
              <a:rPr lang="en-US" sz="1150" dirty="0">
                <a:solidFill>
                  <a:srgbClr val="FFFFFF"/>
                </a:solidFill>
                <a:latin typeface="Meiryo" pitchFamily="34" charset="0"/>
                <a:ea typeface="Meiryo" pitchFamily="34" charset="-122"/>
                <a:cs typeface="Meiryo" pitchFamily="34" charset="-120"/>
              </a:rPr>
              <a:t>DDR5 64GB（32GB×2）</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ストレージ：</a:t>
            </a:r>
            <a:pPr indent="0" marL="0">
              <a:buNone/>
            </a:pPr>
            <a:r>
              <a:rPr lang="en-US" sz="1150" dirty="0">
                <a:solidFill>
                  <a:srgbClr val="FFFFFF"/>
                </a:solidFill>
                <a:latin typeface="Meiryo" pitchFamily="34" charset="0"/>
                <a:ea typeface="Meiryo" pitchFamily="34" charset="-122"/>
                <a:cs typeface="Meiryo" pitchFamily="34" charset="-120"/>
              </a:rPr>
              <a:t>2TB NVMe SSD（Gen4）</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マザー・電源：</a:t>
            </a:r>
            <a:pPr indent="0" marL="0">
              <a:buNone/>
            </a:pPr>
            <a:r>
              <a:rPr lang="en-US" sz="1150" dirty="0">
                <a:solidFill>
                  <a:srgbClr val="FFFFFF"/>
                </a:solidFill>
                <a:latin typeface="Meiryo" pitchFamily="34" charset="0"/>
                <a:ea typeface="Meiryo" pitchFamily="34" charset="-122"/>
                <a:cs typeface="Meiryo" pitchFamily="34" charset="-120"/>
              </a:rPr>
              <a:t>X870系（PCIe x8/x8分割対応）、1000W 80PLUS Gold以上</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体感速度：</a:t>
            </a:r>
            <a:pPr indent="0" marL="0">
              <a:buNone/>
            </a:pPr>
            <a:r>
              <a:rPr lang="en-US" sz="1150" dirty="0">
                <a:solidFill>
                  <a:srgbClr val="FFFFFF"/>
                </a:solidFill>
                <a:latin typeface="Meiryo" pitchFamily="34" charset="0"/>
                <a:ea typeface="Meiryo" pitchFamily="34" charset="-122"/>
                <a:cs typeface="Meiryo" pitchFamily="34" charset="-120"/>
              </a:rPr>
              <a:t>31B Denseで約15〜25トークン/秒、12Bで約35〜45トークン/秒</a:t>
            </a:r>
            <a:endParaRPr lang="en-US" sz="1150" dirty="0"/>
          </a:p>
          <a:p>
            <a:pPr marL="152400" indent="-152400">
              <a:spcAft>
                <a:spcPts val="300"/>
              </a:spcAft>
              <a:buSzPct val="100000"/>
              <a:buChar char="•"/>
            </a:pPr>
            <a:r>
              <a:rPr lang="en-US" sz="1150" b="1" dirty="0">
                <a:solidFill>
                  <a:srgbClr val="FFFFFF"/>
                </a:solidFill>
                <a:latin typeface="Meiryo" pitchFamily="34" charset="0"/>
                <a:ea typeface="Meiryo" pitchFamily="34" charset="-122"/>
                <a:cs typeface="Meiryo" pitchFamily="34" charset="-120"/>
              </a:rPr>
              <a:t>注意：</a:t>
            </a:r>
            <a:pPr indent="0" marL="0">
              <a:buNone/>
            </a:pPr>
            <a:r>
              <a:rPr lang="en-US" sz="1150" dirty="0">
                <a:solidFill>
                  <a:srgbClr val="FFFFFF"/>
                </a:solidFill>
                <a:latin typeface="Meiryo" pitchFamily="34" charset="0"/>
                <a:ea typeface="Meiryo" pitchFamily="34" charset="-122"/>
                <a:cs typeface="Meiryo" pitchFamily="34" charset="-120"/>
              </a:rPr>
              <a:t>2枚挿しでも速度はGPU1枚分の帯域に律速され、2倍速にはならない</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04. ノートPC構成（オプション）</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省スペース・可搬性が必須の場合のノートPC構成案</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ノートPCはGPU 2枚構成が組めないためVRAM上限は24GB。同じ予算ではデスクトップより一段階下の性能になります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30352" y="1572768"/>
          <a:ext cx="11130991" cy="914400"/>
        </p:xfrm>
        <a:graphic>
          <a:graphicData uri="http://schemas.openxmlformats.org/drawingml/2006/table">
            <a:tbl>
              <a:tblPr/>
              <a:tblGrid>
                <a:gridCol w="2448818"/>
                <a:gridCol w="3339297"/>
                <a:gridCol w="1447029"/>
                <a:gridCol w="3895847"/>
              </a:tblGrid>
              <a:tr h="329184">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案</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構成</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概算（税抜）</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動作モデル・評価</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r>
              <a:tr h="569595">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N1：RTX 5090 Laptop 24GB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Core Ultra 9 / Ryzen 9、DDR5 64GB、2TB SSD、18インチ級ゲーミングノート</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60〜80万円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Gemma 4 31B DenseがVRAM内で動作（約15〜20トークン/秒）。予算内に収まる機種が限られるため要見積</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762952">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N2：RTX 5080 Laptop 16GB</a:t>
                      </a:r>
                      <a:pPr indent="0" marL="0">
                        <a:buNone/>
                      </a:pPr>
                      <a:endParaRPr lang="en-US" sz="1050" dirty="0">
                        <a:latin typeface="Meiryo" charset="0"/>
                        <a:ea typeface="Meiryo" charset="0"/>
                        <a:cs typeface="Meiryo" charset="0"/>
                      </a:endParaRPr>
                    </a:p>
                    <a:p>
                      <a:pPr indent="0" marL="0">
                        <a:buNone/>
                      </a:pPr>
                      <a:r>
                        <a:rPr lang="en-US" sz="1050" b="1" dirty="0">
                          <a:solidFill>
                            <a:srgbClr val="2E7D32"/>
                          </a:solidFill>
                          <a:latin typeface="Meiryo" pitchFamily="34" charset="0"/>
                          <a:ea typeface="Meiryo" pitchFamily="34" charset="-122"/>
                          <a:cs typeface="Meiryo" pitchFamily="34" charset="-120"/>
                        </a:rPr>
                        <a:t>【ノートPC推奨】</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同上の16GB版</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40〜50万円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デスクトップ案Aと同等（Gemma 4 12B / 26B MoE、Devstral 24B）。31B Denseは対象外。価格・性能・調達のバランスが最良</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r h="762952">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N3：Ryzen AI Max+ 395</a:t>
                      </a:r>
                      <a:pPr indent="0" marL="0">
                        <a:buNone/>
                      </a:pPr>
                      <a:endParaRPr lang="en-US" sz="1050" dirty="0">
                        <a:latin typeface="Meiryo" charset="0"/>
                        <a:ea typeface="Meiryo" charset="0"/>
                        <a:cs typeface="Meiryo" charset="0"/>
                      </a:endParaRPr>
                    </a:p>
                    <a:p>
                      <a:pPr indent="0" marL="0">
                        <a:buNone/>
                      </a:pPr>
                      <a:r>
                        <a:rPr lang="en-US" sz="1050" b="1" dirty="0">
                          <a:solidFill>
                            <a:srgbClr val="1A1A1A"/>
                          </a:solidFill>
                          <a:latin typeface="Meiryo" pitchFamily="34" charset="0"/>
                          <a:ea typeface="Meiryo" pitchFamily="34" charset="-122"/>
                          <a:cs typeface="Meiryo" pitchFamily="34" charset="-120"/>
                        </a:rPr>
                        <a:t>128GBユニファイドメモリ</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HP ZBook Ultra G1a、ASUS ROG Flow Z13 等。GPUに最大96〜112GB割当可</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55〜70万円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31B Denseはメモリに収まるが帯域256GB/sのため約5〜8トークン/秒。Gemma 4 26B MoEなら約20〜30トークン/秒で実用的。Ollamaでの事前動作検証が前提</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569595">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N4：MacBook Pro M4 Max 128GB</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Apple Silicon、ユニファイドメモリ</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b="1" dirty="0">
                          <a:solidFill>
                            <a:srgbClr val="B3261E"/>
                          </a:solidFill>
                          <a:latin typeface="Meiryo" pitchFamily="34" charset="0"/>
                          <a:ea typeface="Meiryo" pitchFamily="34" charset="-122"/>
                          <a:cs typeface="Meiryo" pitchFamily="34" charset="-120"/>
                        </a:rPr>
                        <a:t>70〜80万円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31B Denseで約15トークン/秒。予算超過かつWindows前提の運用・BIOS無効化要件と合わないため参考扱い</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bl>
          </a:graphicData>
        </a:graphic>
      </p:graphicFrame>
      <p:sp>
        <p:nvSpPr>
          <p:cNvPr id="7" name="Shape 4"/>
          <p:cNvSpPr/>
          <p:nvPr/>
        </p:nvSpPr>
        <p:spPr>
          <a:xfrm>
            <a:off x="530352" y="4749927"/>
            <a:ext cx="5464912" cy="1605153"/>
          </a:xfrm>
          <a:prstGeom prst="roundRect">
            <a:avLst>
              <a:gd name="adj" fmla="val 5697"/>
            </a:avLst>
          </a:prstGeom>
          <a:solidFill>
            <a:srgbClr val="FBF3E4"/>
          </a:solidFill>
          <a:ln w="9525">
            <a:solidFill>
              <a:srgbClr val="C98A2B"/>
            </a:solidFill>
            <a:prstDash val="solid"/>
          </a:ln>
          <a:effectLst>
            <a:outerShdw sx="100000" sy="100000" kx="0" ky="0" algn="bl" rotWithShape="0" blurRad="50800" dist="12700" dir="5400000">
              <a:srgbClr val="000000">
                <a:alpha val="8000"/>
              </a:srgbClr>
            </a:outerShdw>
          </a:effectLst>
        </p:spPr>
      </p:sp>
      <p:sp>
        <p:nvSpPr>
          <p:cNvPr id="8" name="Text 5"/>
          <p:cNvSpPr txBox="1"/>
          <p:nvPr/>
        </p:nvSpPr>
        <p:spPr>
          <a:xfrm>
            <a:off x="694944" y="4914519"/>
            <a:ext cx="5135728"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デスクトップとの主な違い</a:t>
            </a:r>
            <a:endParaRPr lang="en-US" sz="1400" dirty="0"/>
          </a:p>
        </p:txBody>
      </p:sp>
      <p:sp>
        <p:nvSpPr>
          <p:cNvPr id="9" name="Text 6"/>
          <p:cNvSpPr txBox="1"/>
          <p:nvPr/>
        </p:nvSpPr>
        <p:spPr>
          <a:xfrm>
            <a:off x="694944" y="5245989"/>
            <a:ext cx="5135728" cy="751523"/>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連続推論時は電力上限と冷却制約により性能が2〜4割低下</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同じVRAM容量で価格は約1.5〜2倍。GPUの増設・交換は不可</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RTX 5070 Ti Laptop（12GB）以下はDevstral 24Bが入らず非推奨</a:t>
            </a:r>
            <a:endParaRPr lang="en-US" sz="1150" dirty="0"/>
          </a:p>
        </p:txBody>
      </p:sp>
      <p:sp>
        <p:nvSpPr>
          <p:cNvPr id="10" name="Shape 7"/>
          <p:cNvSpPr/>
          <p:nvPr/>
        </p:nvSpPr>
        <p:spPr>
          <a:xfrm>
            <a:off x="6196432" y="4749927"/>
            <a:ext cx="5464912" cy="1605153"/>
          </a:xfrm>
          <a:prstGeom prst="roundRect">
            <a:avLst>
              <a:gd name="adj" fmla="val 5697"/>
            </a:avLst>
          </a:prstGeom>
          <a:solidFill>
            <a:srgbClr val="FBF3E4"/>
          </a:solidFill>
          <a:ln w="9525">
            <a:solidFill>
              <a:srgbClr val="C98A2B"/>
            </a:solidFill>
            <a:prstDash val="solid"/>
          </a:ln>
          <a:effectLst>
            <a:outerShdw sx="100000" sy="100000" kx="0" ky="0" algn="bl" rotWithShape="0" blurRad="50800" dist="12700" dir="5400000">
              <a:srgbClr val="000000">
                <a:alpha val="8000"/>
              </a:srgbClr>
            </a:outerShdw>
          </a:effectLst>
        </p:spPr>
      </p:sp>
      <p:sp>
        <p:nvSpPr>
          <p:cNvPr id="11" name="Text 8"/>
          <p:cNvSpPr txBox="1"/>
          <p:nvPr/>
        </p:nvSpPr>
        <p:spPr>
          <a:xfrm>
            <a:off x="6361024" y="4914519"/>
            <a:ext cx="5135728"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ノートPC納品時の追加作業</a:t>
            </a:r>
            <a:endParaRPr lang="en-US" sz="1400" dirty="0"/>
          </a:p>
        </p:txBody>
      </p:sp>
      <p:sp>
        <p:nvSpPr>
          <p:cNvPr id="12" name="Text 9"/>
          <p:cNvSpPr txBox="1"/>
          <p:nvPr/>
        </p:nvSpPr>
        <p:spPr>
          <a:xfrm>
            <a:off x="6361024" y="5245989"/>
            <a:ext cx="5135728" cy="1145858"/>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BIOSでWi-Fi / Bluetooth / カメラ / マイク / Thunderboltを無効化し、BIOSパスワードを設定</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M.2無線モジュールの物理撤去、Kensingtonロック固定、SSD暗号化（修理持ち出し対策）</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AC接続時に最大性能・スリープ無効の電源設定</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05. 保守AIチャットUI・システムイメージ</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ブラウザで直感的に使える保守チャットインターフェース</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推論エンジン（Ollama）とWebUI（Open WebUI）を納品PCに構築済み。利用者側の追加ソフト導入は不要です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6</a:t>
            </a:r>
            <a:endParaRPr lang="en-US" sz="900" dirty="0"/>
          </a:p>
        </p:txBody>
      </p:sp>
      <p:sp>
        <p:nvSpPr>
          <p:cNvPr id="6" name="Text 4"/>
          <p:cNvSpPr txBox="1"/>
          <p:nvPr/>
        </p:nvSpPr>
        <p:spPr>
          <a:xfrm>
            <a:off x="530352" y="5943600"/>
            <a:ext cx="11130991" cy="457200"/>
          </a:xfrm>
          <a:prstGeom prst="rect">
            <a:avLst/>
          </a:prstGeom>
          <a:noFill/>
          <a:ln/>
        </p:spPr>
        <p:txBody>
          <a:bodyPr wrap="square" lIns="0" tIns="0" rIns="0" bIns="0" rtlCol="0" anchor="t"/>
          <a:lstStyle/>
          <a:p>
            <a:pPr indent="0" marL="0">
              <a:buNone/>
            </a:pPr>
            <a:r>
              <a:rPr lang="en-US" sz="900" dirty="0">
                <a:solidFill>
                  <a:srgbClr val="5A6270"/>
                </a:solidFill>
                <a:latin typeface="Meiryo" pitchFamily="34" charset="0"/>
                <a:ea typeface="Meiryo" pitchFamily="34" charset="-122"/>
                <a:cs typeface="Meiryo" pitchFamily="34" charset="-120"/>
              </a:rPr>
              <a:t>※ 画面はイメージです。実際の出力は貴社環境に合わせたプロンプト調整後のものとなります。</a:t>
            </a:r>
            <a:endParaRPr lang="en-US" sz="900" dirty="0"/>
          </a:p>
        </p:txBody>
      </p:sp>
      <p:sp>
        <p:nvSpPr>
          <p:cNvPr id="7" name="Shape 5"/>
          <p:cNvSpPr/>
          <p:nvPr/>
        </p:nvSpPr>
        <p:spPr>
          <a:xfrm>
            <a:off x="530352" y="1572768"/>
            <a:ext cx="5451196" cy="3335846"/>
          </a:xfrm>
          <a:prstGeom prst="roundRect">
            <a:avLst>
              <a:gd name="adj" fmla="val 2741"/>
            </a:avLst>
          </a:prstGeom>
          <a:solidFill>
            <a:srgbClr val="FFFFFF"/>
          </a:solidFill>
          <a:ln w="9525">
            <a:solidFill>
              <a:srgbClr val="D9DCE3"/>
            </a:solidFill>
            <a:prstDash val="solid"/>
          </a:ln>
        </p:spPr>
      </p:sp>
      <p:sp>
        <p:nvSpPr>
          <p:cNvPr id="8" name="Text 6"/>
          <p:cNvSpPr txBox="1"/>
          <p:nvPr/>
        </p:nvSpPr>
        <p:spPr>
          <a:xfrm>
            <a:off x="658368" y="1700784"/>
            <a:ext cx="5195164" cy="227457"/>
          </a:xfrm>
          <a:prstGeom prst="rect">
            <a:avLst/>
          </a:prstGeom>
          <a:noFill/>
          <a:ln/>
        </p:spPr>
        <p:txBody>
          <a:bodyPr wrap="square" lIns="254" tIns="254" rIns="254" bIns="254" rtlCol="0" anchor="t"/>
          <a:lstStyle/>
          <a:p>
            <a:pPr indent="0" marL="0">
              <a:buNone/>
            </a:pPr>
            <a:r>
              <a:rPr lang="en-US" sz="900" dirty="0">
                <a:solidFill>
                  <a:srgbClr val="5A6270"/>
                </a:solidFill>
                <a:latin typeface="Meiryo" pitchFamily="34" charset="0"/>
                <a:ea typeface="Meiryo" pitchFamily="34" charset="-122"/>
                <a:cs typeface="Meiryo" pitchFamily="34" charset="-120"/>
              </a:rPr>
              <a:t>[完全オフライン] セキュリティルーム専用 保守AIアシスタント（Gemma 4）</a:t>
            </a:r>
            <a:endParaRPr lang="en-US" sz="900" dirty="0"/>
          </a:p>
        </p:txBody>
      </p:sp>
      <p:sp>
        <p:nvSpPr>
          <p:cNvPr id="9" name="Shape 7"/>
          <p:cNvSpPr/>
          <p:nvPr/>
        </p:nvSpPr>
        <p:spPr>
          <a:xfrm>
            <a:off x="658368" y="1964817"/>
            <a:ext cx="5195164" cy="909257"/>
          </a:xfrm>
          <a:prstGeom prst="roundRect">
            <a:avLst>
              <a:gd name="adj" fmla="val 8045"/>
            </a:avLst>
          </a:prstGeom>
          <a:solidFill>
            <a:srgbClr val="EEF1F7"/>
          </a:solidFill>
          <a:ln w="9525">
            <a:solidFill>
              <a:srgbClr val="EEF1F7"/>
            </a:solidFill>
            <a:prstDash val="solid"/>
          </a:ln>
        </p:spPr>
      </p:sp>
      <p:sp>
        <p:nvSpPr>
          <p:cNvPr id="10" name="Text 8"/>
          <p:cNvSpPr txBox="1"/>
          <p:nvPr/>
        </p:nvSpPr>
        <p:spPr>
          <a:xfrm>
            <a:off x="768096" y="2074545"/>
            <a:ext cx="4975708" cy="689801"/>
          </a:xfrm>
          <a:prstGeom prst="rect">
            <a:avLst/>
          </a:prstGeom>
          <a:noFill/>
          <a:ln/>
        </p:spPr>
        <p:txBody>
          <a:bodyPr wrap="square" lIns="0" tIns="0" rIns="0" bIns="0" rtlCol="0" anchor="t"/>
          <a:lstStyle/>
          <a:p>
            <a:pPr indent="0" marL="0">
              <a:buNone/>
            </a:pPr>
            <a:r>
              <a:rPr lang="en-US" sz="950" b="1" dirty="0">
                <a:solidFill>
                  <a:srgbClr val="14213D"/>
                </a:solidFill>
                <a:latin typeface="Meiryo" pitchFamily="34" charset="0"/>
                <a:ea typeface="Meiryo" pitchFamily="34" charset="-122"/>
                <a:cs typeface="Meiryo" pitchFamily="34" charset="-120"/>
              </a:rPr>
              <a:t>保守担当者</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下記のエラーログの発生原因と一次対応手順を教えてください。</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 ERROR 2026-10-07 14:22:01 [DBPool] Connection Timeout ---</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at com.example.service.DatabaseAccess.getConnection(DatabaseAccess.java:42)</a:t>
            </a:r>
            <a:endParaRPr lang="en-US" sz="950" dirty="0"/>
          </a:p>
        </p:txBody>
      </p:sp>
      <p:sp>
        <p:nvSpPr>
          <p:cNvPr id="11" name="Shape 9"/>
          <p:cNvSpPr/>
          <p:nvPr/>
        </p:nvSpPr>
        <p:spPr>
          <a:xfrm>
            <a:off x="658368" y="2965514"/>
            <a:ext cx="5195164" cy="1723644"/>
          </a:xfrm>
          <a:prstGeom prst="roundRect">
            <a:avLst>
              <a:gd name="adj" fmla="val 4244"/>
            </a:avLst>
          </a:prstGeom>
          <a:solidFill>
            <a:srgbClr val="FBF3E4"/>
          </a:solidFill>
          <a:ln w="9525">
            <a:solidFill>
              <a:srgbClr val="EAD7B0"/>
            </a:solidFill>
            <a:prstDash val="solid"/>
          </a:ln>
        </p:spPr>
      </p:sp>
      <p:sp>
        <p:nvSpPr>
          <p:cNvPr id="12" name="Text 10"/>
          <p:cNvSpPr txBox="1"/>
          <p:nvPr/>
        </p:nvSpPr>
        <p:spPr>
          <a:xfrm>
            <a:off x="768096" y="3075242"/>
            <a:ext cx="4975708" cy="1504188"/>
          </a:xfrm>
          <a:prstGeom prst="rect">
            <a:avLst/>
          </a:prstGeom>
          <a:noFill/>
          <a:ln/>
        </p:spPr>
        <p:txBody>
          <a:bodyPr wrap="square" lIns="0" tIns="0" rIns="0" bIns="0" rtlCol="0" anchor="t"/>
          <a:lstStyle/>
          <a:p>
            <a:pPr indent="0" marL="0">
              <a:buNone/>
            </a:pPr>
            <a:r>
              <a:rPr lang="en-US" sz="950" b="1" dirty="0">
                <a:solidFill>
                  <a:srgbClr val="14213D"/>
                </a:solidFill>
                <a:latin typeface="Meiryo" pitchFamily="34" charset="0"/>
                <a:ea typeface="Meiryo" pitchFamily="34" charset="-122"/>
                <a:cs typeface="Meiryo" pitchFamily="34" charset="-120"/>
              </a:rPr>
              <a:t>ローカルAI（Gemma 4）</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【解析結果】</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・原因：データベース接続プール（DBPool）の枯渇、またはコネクションリークの可能性</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・緊急度：中（新規トランザクションがブロックされるリスクあり）</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【一次対応手順】</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1. 現在のアクティブ接続数の確認</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2. 接続プール設定（最大接続数）の確認</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3. アプリケーションサービスの再起動</a:t>
            </a:r>
            <a:endParaRPr lang="en-US" sz="950" dirty="0"/>
          </a:p>
          <a:p>
            <a:pPr indent="0" marL="0">
              <a:buNone/>
            </a:pPr>
            <a:r>
              <a:rPr lang="en-US" sz="950" dirty="0">
                <a:solidFill>
                  <a:srgbClr val="1A1A1A"/>
                </a:solidFill>
                <a:latin typeface="Meiryo" pitchFamily="34" charset="0"/>
                <a:ea typeface="Meiryo" pitchFamily="34" charset="-122"/>
                <a:cs typeface="Meiryo" pitchFamily="34" charset="-120"/>
              </a:rPr>
              <a:t>※ 上記は一次切り分けの参考情報です。最終判断は担当者が行ってください</a:t>
            </a:r>
            <a:endParaRPr lang="en-US" sz="950" dirty="0"/>
          </a:p>
        </p:txBody>
      </p:sp>
      <p:sp>
        <p:nvSpPr>
          <p:cNvPr id="13" name="Shape 11"/>
          <p:cNvSpPr/>
          <p:nvPr/>
        </p:nvSpPr>
        <p:spPr>
          <a:xfrm>
            <a:off x="6210148" y="1572768"/>
            <a:ext cx="5451196" cy="1061657"/>
          </a:xfrm>
          <a:prstGeom prst="roundRect">
            <a:avLst>
              <a:gd name="adj" fmla="val 8613"/>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14" name="Text 12"/>
          <p:cNvSpPr txBox="1"/>
          <p:nvPr/>
        </p:nvSpPr>
        <p:spPr>
          <a:xfrm>
            <a:off x="6374740" y="1737360"/>
            <a:ext cx="5122012" cy="287465"/>
          </a:xfrm>
          <a:prstGeom prst="rect">
            <a:avLst/>
          </a:prstGeom>
          <a:noFill/>
          <a:ln/>
        </p:spPr>
        <p:txBody>
          <a:bodyPr wrap="square" lIns="254" tIns="254" rIns="254" bIns="254" rtlCol="0" anchor="t"/>
          <a:lstStyle/>
          <a:p>
            <a:pPr indent="0" marL="0">
              <a:buNone/>
            </a:pPr>
            <a:r>
              <a:rPr lang="en-US" sz="1250" b="1" dirty="0">
                <a:solidFill>
                  <a:srgbClr val="14213D"/>
                </a:solidFill>
                <a:latin typeface="Meiryo" pitchFamily="34" charset="0"/>
                <a:ea typeface="Meiryo" pitchFamily="34" charset="-122"/>
                <a:cs typeface="Meiryo" pitchFamily="34" charset="-120"/>
              </a:rPr>
              <a:t>保守専用プロンプトの組み込み</a:t>
            </a:r>
            <a:endParaRPr lang="en-US" sz="1250" dirty="0"/>
          </a:p>
        </p:txBody>
      </p:sp>
      <p:sp>
        <p:nvSpPr>
          <p:cNvPr id="15" name="Text 13"/>
          <p:cNvSpPr txBox="1"/>
          <p:nvPr/>
        </p:nvSpPr>
        <p:spPr>
          <a:xfrm>
            <a:off x="6374740" y="2043113"/>
            <a:ext cx="5122012" cy="42672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1A1A1A"/>
                </a:solidFill>
                <a:latin typeface="Meiryo" pitchFamily="34" charset="0"/>
                <a:ea typeface="Meiryo" pitchFamily="34" charset="-122"/>
                <a:cs typeface="Meiryo" pitchFamily="34" charset="-120"/>
              </a:rPr>
              <a:t>「原因推測」「緊急度」「一次対応手順」を必ず構造化して出力する専用システムプロンプトを事前設定</a:t>
            </a:r>
            <a:endParaRPr lang="en-US" sz="1000" dirty="0"/>
          </a:p>
        </p:txBody>
      </p:sp>
      <p:sp>
        <p:nvSpPr>
          <p:cNvPr id="16" name="Shape 14"/>
          <p:cNvSpPr/>
          <p:nvPr/>
        </p:nvSpPr>
        <p:spPr>
          <a:xfrm>
            <a:off x="6210148" y="2762441"/>
            <a:ext cx="5451196" cy="1061657"/>
          </a:xfrm>
          <a:prstGeom prst="roundRect">
            <a:avLst>
              <a:gd name="adj" fmla="val 8613"/>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17" name="Text 15"/>
          <p:cNvSpPr txBox="1"/>
          <p:nvPr/>
        </p:nvSpPr>
        <p:spPr>
          <a:xfrm>
            <a:off x="6374740" y="2927033"/>
            <a:ext cx="5122012" cy="287465"/>
          </a:xfrm>
          <a:prstGeom prst="rect">
            <a:avLst/>
          </a:prstGeom>
          <a:noFill/>
          <a:ln/>
        </p:spPr>
        <p:txBody>
          <a:bodyPr wrap="square" lIns="254" tIns="254" rIns="254" bIns="254" rtlCol="0" anchor="t"/>
          <a:lstStyle/>
          <a:p>
            <a:pPr indent="0" marL="0">
              <a:buNone/>
            </a:pPr>
            <a:r>
              <a:rPr lang="en-US" sz="1250" b="1" dirty="0">
                <a:solidFill>
                  <a:srgbClr val="14213D"/>
                </a:solidFill>
                <a:latin typeface="Meiryo" pitchFamily="34" charset="0"/>
                <a:ea typeface="Meiryo" pitchFamily="34" charset="-122"/>
                <a:cs typeface="Meiryo" pitchFamily="34" charset="-120"/>
              </a:rPr>
              <a:t>ブラウザ（http://localhost）接続</a:t>
            </a:r>
            <a:endParaRPr lang="en-US" sz="1250" dirty="0"/>
          </a:p>
        </p:txBody>
      </p:sp>
      <p:sp>
        <p:nvSpPr>
          <p:cNvPr id="18" name="Text 16"/>
          <p:cNvSpPr txBox="1"/>
          <p:nvPr/>
        </p:nvSpPr>
        <p:spPr>
          <a:xfrm>
            <a:off x="6374740" y="3232785"/>
            <a:ext cx="5122012" cy="42672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1A1A1A"/>
                </a:solidFill>
                <a:latin typeface="Meiryo" pitchFamily="34" charset="0"/>
                <a:ea typeface="Meiryo" pitchFamily="34" charset="-122"/>
                <a:cs typeface="Meiryo" pitchFamily="34" charset="-120"/>
              </a:rPr>
              <a:t>PC起動後、ブラウザを開くだけで利用可能。Open WebUIは社内利用・50ユーザー以下を想定</a:t>
            </a:r>
            <a:endParaRPr lang="en-US" sz="1000" dirty="0"/>
          </a:p>
        </p:txBody>
      </p:sp>
      <p:sp>
        <p:nvSpPr>
          <p:cNvPr id="19" name="Shape 17"/>
          <p:cNvSpPr/>
          <p:nvPr/>
        </p:nvSpPr>
        <p:spPr>
          <a:xfrm>
            <a:off x="6210148" y="3952113"/>
            <a:ext cx="5451196" cy="1061657"/>
          </a:xfrm>
          <a:prstGeom prst="roundRect">
            <a:avLst>
              <a:gd name="adj" fmla="val 8613"/>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20" name="Text 18"/>
          <p:cNvSpPr txBox="1"/>
          <p:nvPr/>
        </p:nvSpPr>
        <p:spPr>
          <a:xfrm>
            <a:off x="6374740" y="4116705"/>
            <a:ext cx="5122012" cy="287465"/>
          </a:xfrm>
          <a:prstGeom prst="rect">
            <a:avLst/>
          </a:prstGeom>
          <a:noFill/>
          <a:ln/>
        </p:spPr>
        <p:txBody>
          <a:bodyPr wrap="square" lIns="254" tIns="254" rIns="254" bIns="254" rtlCol="0" anchor="t"/>
          <a:lstStyle/>
          <a:p>
            <a:pPr indent="0" marL="0">
              <a:buNone/>
            </a:pPr>
            <a:r>
              <a:rPr lang="en-US" sz="1250" b="1" dirty="0">
                <a:solidFill>
                  <a:srgbClr val="14213D"/>
                </a:solidFill>
                <a:latin typeface="Meiryo" pitchFamily="34" charset="0"/>
                <a:ea typeface="Meiryo" pitchFamily="34" charset="-122"/>
                <a:cs typeface="Meiryo" pitchFamily="34" charset="-120"/>
              </a:rPr>
              <a:t>ワンクリックコピー＆ナレッジ保存</a:t>
            </a:r>
            <a:endParaRPr lang="en-US" sz="1250" dirty="0"/>
          </a:p>
        </p:txBody>
      </p:sp>
      <p:sp>
        <p:nvSpPr>
          <p:cNvPr id="21" name="Text 19"/>
          <p:cNvSpPr txBox="1"/>
          <p:nvPr/>
        </p:nvSpPr>
        <p:spPr>
          <a:xfrm>
            <a:off x="6374740" y="4422458"/>
            <a:ext cx="5122012" cy="42672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1A1A1A"/>
                </a:solidFill>
                <a:latin typeface="Meiryo" pitchFamily="34" charset="0"/>
                <a:ea typeface="Meiryo" pitchFamily="34" charset="-122"/>
                <a:cs typeface="Meiryo" pitchFamily="34" charset="-120"/>
              </a:rPr>
              <a:t>回答をコピーして障害報告書に貼り付け可能。過去の障害記録から類似事例を提示する機能（RAG）はオプション</a:t>
            </a:r>
            <a:endParaRPr lang="en-US" sz="1000" dirty="0"/>
          </a:p>
        </p:txBody>
      </p:sp>
      <p:sp>
        <p:nvSpPr>
          <p:cNvPr id="22" name="Shape 20"/>
          <p:cNvSpPr/>
          <p:nvPr/>
        </p:nvSpPr>
        <p:spPr>
          <a:xfrm>
            <a:off x="6210148" y="5141786"/>
            <a:ext cx="5451196" cy="890207"/>
          </a:xfrm>
          <a:prstGeom prst="roundRect">
            <a:avLst>
              <a:gd name="adj" fmla="val 10272"/>
            </a:avLst>
          </a:prstGeom>
          <a:solidFill>
            <a:srgbClr val="FFFFFF"/>
          </a:solidFill>
          <a:ln w="9525">
            <a:solidFill>
              <a:srgbClr val="D9DCE3"/>
            </a:solidFill>
            <a:prstDash val="solid"/>
          </a:ln>
          <a:effectLst>
            <a:outerShdw sx="100000" sy="100000" kx="0" ky="0" algn="bl" rotWithShape="0" blurRad="50800" dist="12700" dir="5400000">
              <a:srgbClr val="000000">
                <a:alpha val="8000"/>
              </a:srgbClr>
            </a:outerShdw>
          </a:effectLst>
        </p:spPr>
      </p:sp>
      <p:sp>
        <p:nvSpPr>
          <p:cNvPr id="23" name="Text 21"/>
          <p:cNvSpPr txBox="1"/>
          <p:nvPr/>
        </p:nvSpPr>
        <p:spPr>
          <a:xfrm>
            <a:off x="6374740" y="5306378"/>
            <a:ext cx="5122012" cy="287465"/>
          </a:xfrm>
          <a:prstGeom prst="rect">
            <a:avLst/>
          </a:prstGeom>
          <a:noFill/>
          <a:ln/>
        </p:spPr>
        <p:txBody>
          <a:bodyPr wrap="square" lIns="254" tIns="254" rIns="254" bIns="254" rtlCol="0" anchor="t"/>
          <a:lstStyle/>
          <a:p>
            <a:pPr indent="0" marL="0">
              <a:buNone/>
            </a:pPr>
            <a:r>
              <a:rPr lang="en-US" sz="1250" b="1" dirty="0">
                <a:solidFill>
                  <a:srgbClr val="14213D"/>
                </a:solidFill>
                <a:latin typeface="Meiryo" pitchFamily="34" charset="0"/>
                <a:ea typeface="Meiryo" pitchFamily="34" charset="-122"/>
                <a:cs typeface="Meiryo" pitchFamily="34" charset="-120"/>
              </a:rPr>
              <a:t>完全独立スタンドアロン構成</a:t>
            </a:r>
            <a:endParaRPr lang="en-US" sz="1250" dirty="0"/>
          </a:p>
        </p:txBody>
      </p:sp>
      <p:sp>
        <p:nvSpPr>
          <p:cNvPr id="24" name="Text 22"/>
          <p:cNvSpPr txBox="1"/>
          <p:nvPr/>
        </p:nvSpPr>
        <p:spPr>
          <a:xfrm>
            <a:off x="6374740" y="5612130"/>
            <a:ext cx="5122012" cy="25527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1A1A1A"/>
                </a:solidFill>
                <a:latin typeface="Meiryo" pitchFamily="34" charset="0"/>
                <a:ea typeface="Meiryo" pitchFamily="34" charset="-122"/>
                <a:cs typeface="Meiryo" pitchFamily="34" charset="-120"/>
              </a:rPr>
              <a:t>LAN未接続・無線撤去で動作し、ネットワーク経由の情報漏洩リスクを排除</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06. 概算費用および導入スケジュール</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PC調達・キッティング・環境構築・初期調整までの一括導入プラン</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初期費用のみ。年間保守（モデル更新・障害対応）はオプションとして別途ご提示します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7</a:t>
            </a:r>
            <a:endParaRPr lang="en-US" sz="900" dirty="0"/>
          </a:p>
        </p:txBody>
      </p:sp>
      <p:sp>
        <p:nvSpPr>
          <p:cNvPr id="6" name="Text 4"/>
          <p:cNvSpPr txBox="1"/>
          <p:nvPr/>
        </p:nvSpPr>
        <p:spPr>
          <a:xfrm>
            <a:off x="530352" y="5943600"/>
            <a:ext cx="11130991" cy="457200"/>
          </a:xfrm>
          <a:prstGeom prst="rect">
            <a:avLst/>
          </a:prstGeom>
          <a:noFill/>
          <a:ln/>
        </p:spPr>
        <p:txBody>
          <a:bodyPr wrap="square" lIns="0" tIns="0" rIns="0" bIns="0" rtlCol="0" anchor="t"/>
          <a:lstStyle/>
          <a:p>
            <a:pPr indent="0" marL="0">
              <a:buNone/>
            </a:pPr>
            <a:r>
              <a:rPr lang="en-US" sz="900" dirty="0">
                <a:solidFill>
                  <a:srgbClr val="5A6270"/>
                </a:solidFill>
                <a:latin typeface="Meiryo" pitchFamily="34" charset="0"/>
                <a:ea typeface="Meiryo" pitchFamily="34" charset="-122"/>
                <a:cs typeface="Meiryo" pitchFamily="34" charset="-120"/>
              </a:rPr>
              <a:t>※ 標準スケジュールは全6週間。GPU搭載PCの納期（2〜4週間）や在庫状況により前後します。</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30352" y="1572768"/>
          <a:ext cx="11130991" cy="914400"/>
        </p:xfrm>
        <a:graphic>
          <a:graphicData uri="http://schemas.openxmlformats.org/drawingml/2006/table">
            <a:tbl>
              <a:tblPr/>
              <a:tblGrid>
                <a:gridCol w="2448818"/>
                <a:gridCol w="6233355"/>
                <a:gridCol w="2448818"/>
              </a:tblGrid>
              <a:tr h="329184">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費用項目</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作業内容・詳細内訳</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Meiryo" pitchFamily="34" charset="0"/>
                          <a:ea typeface="Meiryo" pitchFamily="34" charset="-122"/>
                          <a:cs typeface="Meiryo" pitchFamily="34" charset="-120"/>
                        </a:rPr>
                        <a:t>概算金額（税抜）</a:t>
                      </a:r>
                      <a:endParaRPr lang="en-US" sz="1050" dirty="0">
                        <a:latin typeface="Meiryo" charset="0"/>
                        <a:ea typeface="Meiryo" charset="0"/>
                        <a:cs typeface="Meiryo"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213D"/>
                    </a:solidFill>
                  </a:tcPr>
                </a:tc>
              </a:tr>
              <a:tr h="762952">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1. ハードウェア調達費</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GeForce搭載BTO PC、モニター、セキュリティワイヤー一式</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（法人保守契約が必要な場合はRTX PRO搭載機で再見積）</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標準 45〜55万円</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VRAM 32GB 60〜70万円</a:t>
                      </a:r>
                      <a:pPr indent="0" marL="0">
                        <a:buNone/>
                      </a:pPr>
                      <a:endParaRPr lang="en-US" sz="1050" dirty="0">
                        <a:latin typeface="Meiryo" charset="0"/>
                        <a:ea typeface="Meiryo" charset="0"/>
                        <a:cs typeface="Meiryo" charset="0"/>
                      </a:endParaRPr>
                    </a:p>
                    <a:p>
                      <a:pPr indent="0" marL="0">
                        <a:buNone/>
                      </a:pPr>
                      <a:r>
                        <a:rPr lang="en-US" sz="1050" dirty="0">
                          <a:solidFill>
                            <a:srgbClr val="1A1A1A"/>
                          </a:solidFill>
                          <a:latin typeface="Meiryo" pitchFamily="34" charset="0"/>
                          <a:ea typeface="Meiryo" pitchFamily="34" charset="-122"/>
                          <a:cs typeface="Meiryo" pitchFamily="34" charset="-120"/>
                        </a:rPr>
                        <a:t>ノートPC 40〜50万円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569595">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2. キッティング＆環境構築</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OSセキュリティ設定、無線撤去・USB制御、推論エンジン（Ollama）とWebUI組み込み、モデルファイルのハッシュ検証・承認媒体による搬入、オフライン検証</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35〜50万円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r h="376238">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3. プロンプト・UI調整</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エラーログ解析用テンプレートプロンプト作成、UI画面カスタマイズ、検証用ログテスト</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15〜25万円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76238">
                <a:tc>
                  <a:txBody>
                    <a:bodyPr/>
                    <a:lstStyle/>
                    <a:p>
                      <a:pPr indent="0" marL="0">
                        <a:buNone/>
                      </a:pPr>
                      <a:r>
                        <a:rPr lang="en-US" sz="1050" b="1" dirty="0">
                          <a:solidFill>
                            <a:srgbClr val="1A1A1A"/>
                          </a:solidFill>
                          <a:latin typeface="Meiryo" pitchFamily="34" charset="0"/>
                          <a:ea typeface="Meiryo" pitchFamily="34" charset="-122"/>
                          <a:cs typeface="Meiryo" pitchFamily="34" charset="-120"/>
                        </a:rPr>
                        <a:t>4. 導入支援・設置作業</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セキュリティルーム現地設置、取扱説明書・モデル更新手順書作成、運用レクチャー</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c>
                  <a:txBody>
                    <a:bodyPr/>
                    <a:lstStyle/>
                    <a:p>
                      <a:pPr indent="0" marL="0">
                        <a:buNone/>
                      </a:pPr>
                      <a:r>
                        <a:rPr lang="en-US" sz="1050" dirty="0">
                          <a:solidFill>
                            <a:srgbClr val="1A1A1A"/>
                          </a:solidFill>
                          <a:latin typeface="Meiryo" pitchFamily="34" charset="0"/>
                          <a:ea typeface="Meiryo" pitchFamily="34" charset="-122"/>
                          <a:cs typeface="Meiryo" pitchFamily="34" charset="-120"/>
                        </a:rPr>
                        <a:t>10〜15万円</a:t>
                      </a:r>
                      <a:endParaRPr lang="en-US" sz="1050" dirty="0">
                        <a:latin typeface="Meiryo" charset="0"/>
                        <a:ea typeface="Meiryo" charset="0"/>
                        <a:cs typeface="Meiryo" charset="0"/>
                      </a:endParaRPr>
                    </a:p>
                  </a:txBody>
                  <a:tcPr marL="54864" marR="54864" marT="54864" marB="54864" anchor="t">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AFBFC"/>
                    </a:solidFill>
                  </a:tcPr>
                </a:tc>
              </a:tr>
            </a:tbl>
          </a:graphicData>
        </a:graphic>
      </p:graphicFrame>
      <p:sp>
        <p:nvSpPr>
          <p:cNvPr id="8" name="Shape 5"/>
          <p:cNvSpPr/>
          <p:nvPr/>
        </p:nvSpPr>
        <p:spPr>
          <a:xfrm>
            <a:off x="530352" y="4169855"/>
            <a:ext cx="11130991" cy="566928"/>
          </a:xfrm>
          <a:prstGeom prst="roundRect">
            <a:avLst>
              <a:gd name="adj" fmla="val 16129"/>
            </a:avLst>
          </a:prstGeom>
          <a:solidFill>
            <a:srgbClr val="14213D"/>
          </a:solidFill>
          <a:ln w="12700">
            <a:solidFill>
              <a:srgbClr val="14213D"/>
            </a:solidFill>
            <a:prstDash val="solid"/>
          </a:ln>
        </p:spPr>
      </p:sp>
      <p:sp>
        <p:nvSpPr>
          <p:cNvPr id="9" name="Text 6"/>
          <p:cNvSpPr txBox="1"/>
          <p:nvPr/>
        </p:nvSpPr>
        <p:spPr>
          <a:xfrm>
            <a:off x="713232" y="4169855"/>
            <a:ext cx="10765231" cy="566928"/>
          </a:xfrm>
          <a:prstGeom prst="rect">
            <a:avLst/>
          </a:prstGeom>
          <a:noFill/>
          <a:ln/>
        </p:spPr>
        <p:txBody>
          <a:bodyPr wrap="square" lIns="0" tIns="0" rIns="0" bIns="0" rtlCol="0" anchor="ctr"/>
          <a:lstStyle/>
          <a:p>
            <a:pPr indent="0" marL="0">
              <a:buNone/>
            </a:pPr>
            <a:r>
              <a:rPr lang="en-US" sz="1000" dirty="0">
                <a:solidFill>
                  <a:srgbClr val="C9D2E6"/>
                </a:solidFill>
                <a:latin typeface="Meiryo" pitchFamily="34" charset="0"/>
                <a:ea typeface="Meiryo" pitchFamily="34" charset="-122"/>
                <a:cs typeface="Meiryo" pitchFamily="34" charset="-120"/>
              </a:rPr>
              <a:t>初期導入費用 合計概算（税抜）    </a:t>
            </a:r>
            <a:pPr indent="0" marL="0">
              <a:buNone/>
            </a:pPr>
            <a:r>
              <a:rPr lang="en-US" sz="1700" b="1" dirty="0">
                <a:solidFill>
                  <a:srgbClr val="FFFFFF"/>
                </a:solidFill>
                <a:latin typeface="Meiryo" pitchFamily="34" charset="0"/>
                <a:ea typeface="Meiryo" pitchFamily="34" charset="-122"/>
                <a:cs typeface="Meiryo" pitchFamily="34" charset="-120"/>
              </a:rPr>
              <a:t>標準構成 105〜145万円 ／ VRAM 32GB構成 120〜160万円</a:t>
            </a:r>
            <a:endParaRPr lang="en-US" sz="1000" dirty="0"/>
          </a:p>
        </p:txBody>
      </p:sp>
      <p:sp>
        <p:nvSpPr>
          <p:cNvPr id="10" name="Shape 7"/>
          <p:cNvSpPr/>
          <p:nvPr/>
        </p:nvSpPr>
        <p:spPr>
          <a:xfrm>
            <a:off x="530352" y="4901375"/>
            <a:ext cx="2138416" cy="996506"/>
          </a:xfrm>
          <a:prstGeom prst="roundRect">
            <a:avLst>
              <a:gd name="adj" fmla="val 7341"/>
            </a:avLst>
          </a:prstGeom>
          <a:solidFill>
            <a:srgbClr val="FFFFFF"/>
          </a:solidFill>
          <a:ln w="9525">
            <a:solidFill>
              <a:srgbClr val="D9DCE3"/>
            </a:solidFill>
            <a:prstDash val="solid"/>
          </a:ln>
        </p:spPr>
      </p:sp>
      <p:sp>
        <p:nvSpPr>
          <p:cNvPr id="11" name="Text 8"/>
          <p:cNvSpPr txBox="1"/>
          <p:nvPr/>
        </p:nvSpPr>
        <p:spPr>
          <a:xfrm>
            <a:off x="621792" y="4974527"/>
            <a:ext cx="1955536" cy="850202"/>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1</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要件確定・PCハードウェア発注</a:t>
            </a:r>
            <a:endParaRPr lang="en-US" sz="1000" dirty="0"/>
          </a:p>
        </p:txBody>
      </p:sp>
      <p:sp>
        <p:nvSpPr>
          <p:cNvPr id="12" name="Shape 9"/>
          <p:cNvSpPr/>
          <p:nvPr/>
        </p:nvSpPr>
        <p:spPr>
          <a:xfrm>
            <a:off x="2778496" y="4901375"/>
            <a:ext cx="2138416" cy="996506"/>
          </a:xfrm>
          <a:prstGeom prst="roundRect">
            <a:avLst>
              <a:gd name="adj" fmla="val 7341"/>
            </a:avLst>
          </a:prstGeom>
          <a:solidFill>
            <a:srgbClr val="FFFFFF"/>
          </a:solidFill>
          <a:ln w="9525">
            <a:solidFill>
              <a:srgbClr val="D9DCE3"/>
            </a:solidFill>
            <a:prstDash val="solid"/>
          </a:ln>
        </p:spPr>
      </p:sp>
      <p:sp>
        <p:nvSpPr>
          <p:cNvPr id="13" name="Text 10"/>
          <p:cNvSpPr txBox="1"/>
          <p:nvPr/>
        </p:nvSpPr>
        <p:spPr>
          <a:xfrm>
            <a:off x="2869936" y="4974527"/>
            <a:ext cx="1955536" cy="850202"/>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2〜3</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ハード納期待ちの間に検証機でLLM構築・プロンプト調整</a:t>
            </a:r>
            <a:endParaRPr lang="en-US" sz="1000" dirty="0"/>
          </a:p>
        </p:txBody>
      </p:sp>
      <p:sp>
        <p:nvSpPr>
          <p:cNvPr id="14" name="Shape 11"/>
          <p:cNvSpPr/>
          <p:nvPr/>
        </p:nvSpPr>
        <p:spPr>
          <a:xfrm>
            <a:off x="5026640" y="4901375"/>
            <a:ext cx="2138416" cy="996506"/>
          </a:xfrm>
          <a:prstGeom prst="roundRect">
            <a:avLst>
              <a:gd name="adj" fmla="val 7341"/>
            </a:avLst>
          </a:prstGeom>
          <a:solidFill>
            <a:srgbClr val="FFFFFF"/>
          </a:solidFill>
          <a:ln w="9525">
            <a:solidFill>
              <a:srgbClr val="D9DCE3"/>
            </a:solidFill>
            <a:prstDash val="solid"/>
          </a:ln>
        </p:spPr>
      </p:sp>
      <p:sp>
        <p:nvSpPr>
          <p:cNvPr id="15" name="Text 12"/>
          <p:cNvSpPr txBox="1"/>
          <p:nvPr/>
        </p:nvSpPr>
        <p:spPr>
          <a:xfrm>
            <a:off x="5118080" y="4974527"/>
            <a:ext cx="1955536" cy="850202"/>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4</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納品PCへのキッティング・セキュリティ設定</a:t>
            </a:r>
            <a:endParaRPr lang="en-US" sz="1000" dirty="0"/>
          </a:p>
        </p:txBody>
      </p:sp>
      <p:sp>
        <p:nvSpPr>
          <p:cNvPr id="16" name="Shape 13"/>
          <p:cNvSpPr/>
          <p:nvPr/>
        </p:nvSpPr>
        <p:spPr>
          <a:xfrm>
            <a:off x="7274784" y="4901375"/>
            <a:ext cx="2138416" cy="996506"/>
          </a:xfrm>
          <a:prstGeom prst="roundRect">
            <a:avLst>
              <a:gd name="adj" fmla="val 7341"/>
            </a:avLst>
          </a:prstGeom>
          <a:solidFill>
            <a:srgbClr val="FFFFFF"/>
          </a:solidFill>
          <a:ln w="9525">
            <a:solidFill>
              <a:srgbClr val="D9DCE3"/>
            </a:solidFill>
            <a:prstDash val="solid"/>
          </a:ln>
        </p:spPr>
      </p:sp>
      <p:sp>
        <p:nvSpPr>
          <p:cNvPr id="17" name="Text 14"/>
          <p:cNvSpPr txBox="1"/>
          <p:nvPr/>
        </p:nvSpPr>
        <p:spPr>
          <a:xfrm>
            <a:off x="7366224" y="4974527"/>
            <a:ext cx="1955536" cy="850202"/>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5</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ログ解析テスト・受入確認</a:t>
            </a:r>
            <a:endParaRPr lang="en-US" sz="1000" dirty="0"/>
          </a:p>
        </p:txBody>
      </p:sp>
      <p:sp>
        <p:nvSpPr>
          <p:cNvPr id="18" name="Shape 15"/>
          <p:cNvSpPr/>
          <p:nvPr/>
        </p:nvSpPr>
        <p:spPr>
          <a:xfrm>
            <a:off x="9522927" y="4901375"/>
            <a:ext cx="2138416" cy="996506"/>
          </a:xfrm>
          <a:prstGeom prst="roundRect">
            <a:avLst>
              <a:gd name="adj" fmla="val 7341"/>
            </a:avLst>
          </a:prstGeom>
          <a:solidFill>
            <a:srgbClr val="FFFFFF"/>
          </a:solidFill>
          <a:ln w="9525">
            <a:solidFill>
              <a:srgbClr val="D9DCE3"/>
            </a:solidFill>
            <a:prstDash val="solid"/>
          </a:ln>
        </p:spPr>
      </p:sp>
      <p:sp>
        <p:nvSpPr>
          <p:cNvPr id="19" name="Text 16"/>
          <p:cNvSpPr txBox="1"/>
          <p:nvPr/>
        </p:nvSpPr>
        <p:spPr>
          <a:xfrm>
            <a:off x="9614367" y="4974527"/>
            <a:ext cx="1955536" cy="850202"/>
          </a:xfrm>
          <a:prstGeom prst="rect">
            <a:avLst/>
          </a:prstGeom>
          <a:noFill/>
          <a:ln/>
        </p:spPr>
        <p:txBody>
          <a:bodyPr wrap="square" lIns="0" tIns="0" rIns="0" bIns="0" rtlCol="0" anchor="t"/>
          <a:lstStyle/>
          <a:p>
            <a:pPr indent="0" marL="0">
              <a:buNone/>
            </a:pPr>
            <a:r>
              <a:rPr lang="en-US" sz="1000" b="1" dirty="0">
                <a:solidFill>
                  <a:srgbClr val="C98A2B"/>
                </a:solidFill>
                <a:latin typeface="Meiryo" pitchFamily="34" charset="0"/>
                <a:ea typeface="Meiryo" pitchFamily="34" charset="-122"/>
                <a:cs typeface="Meiryo" pitchFamily="34" charset="-120"/>
              </a:rPr>
              <a:t>Week 6</a:t>
            </a:r>
            <a:endParaRPr lang="en-US" sz="1000" dirty="0"/>
          </a:p>
          <a:p>
            <a:pPr indent="0" marL="0">
              <a:buNone/>
            </a:pPr>
            <a:r>
              <a:rPr lang="en-US" sz="950" dirty="0">
                <a:solidFill>
                  <a:srgbClr val="1A1A1A"/>
                </a:solidFill>
                <a:latin typeface="Meiryo" pitchFamily="34" charset="0"/>
                <a:ea typeface="Meiryo" pitchFamily="34" charset="-122"/>
                <a:cs typeface="Meiryo" pitchFamily="34" charset="-120"/>
              </a:rPr>
              <a:t>セキュリティルーム現地設置・運用レクチャー</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30352" y="292608"/>
            <a:ext cx="11130991" cy="274320"/>
          </a:xfrm>
          <a:prstGeom prst="rect">
            <a:avLst/>
          </a:prstGeom>
          <a:noFill/>
          <a:ln/>
        </p:spPr>
        <p:txBody>
          <a:bodyPr wrap="square" lIns="0" tIns="0" rIns="0" bIns="0" rtlCol="0" anchor="ctr"/>
          <a:lstStyle/>
          <a:p>
            <a:pPr indent="0" marL="0">
              <a:buNone/>
            </a:pPr>
            <a:r>
              <a:rPr lang="en-US" sz="1050" b="1" dirty="0">
                <a:solidFill>
                  <a:srgbClr val="C98A2B"/>
                </a:solidFill>
                <a:latin typeface="Meiryo" pitchFamily="34" charset="0"/>
                <a:ea typeface="Meiryo" pitchFamily="34" charset="-122"/>
                <a:cs typeface="Meiryo" pitchFamily="34" charset="-120"/>
              </a:rPr>
              <a:t>07. 本提案の優位性と期待効果</a:t>
            </a:r>
            <a:endParaRPr lang="en-US" sz="1050" dirty="0"/>
          </a:p>
        </p:txBody>
      </p:sp>
      <p:sp>
        <p:nvSpPr>
          <p:cNvPr id="3" name="Text 1"/>
          <p:cNvSpPr txBox="1"/>
          <p:nvPr/>
        </p:nvSpPr>
        <p:spPr>
          <a:xfrm>
            <a:off x="530352" y="548640"/>
            <a:ext cx="11130991" cy="502920"/>
          </a:xfrm>
          <a:prstGeom prst="rect">
            <a:avLst/>
          </a:prstGeom>
          <a:noFill/>
          <a:ln/>
        </p:spPr>
        <p:txBody>
          <a:bodyPr wrap="square" lIns="0" tIns="0" rIns="0" bIns="0" rtlCol="0" anchor="ctr">
            <a:normAutofit/>
          </a:bodyPr>
          <a:lstStyle/>
          <a:p>
            <a:pPr indent="0" marL="0">
              <a:buNone/>
            </a:pPr>
            <a:r>
              <a:rPr lang="en-US" sz="2200" b="1" dirty="0">
                <a:solidFill>
                  <a:srgbClr val="14213D"/>
                </a:solidFill>
                <a:latin typeface="Meiryo" pitchFamily="34" charset="0"/>
                <a:ea typeface="Meiryo" pitchFamily="34" charset="-122"/>
                <a:cs typeface="Meiryo" pitchFamily="34" charset="-120"/>
              </a:rPr>
              <a:t>機密保持・費用の見通し・障害対応の平準化を同時に達成</a:t>
            </a:r>
            <a:endParaRPr lang="en-US" sz="2200" dirty="0"/>
          </a:p>
        </p:txBody>
      </p:sp>
      <p:sp>
        <p:nvSpPr>
          <p:cNvPr id="4" name="Text 2"/>
          <p:cNvSpPr txBox="1"/>
          <p:nvPr/>
        </p:nvSpPr>
        <p:spPr>
          <a:xfrm>
            <a:off x="530352" y="1069848"/>
            <a:ext cx="11130991" cy="384048"/>
          </a:xfrm>
          <a:prstGeom prst="rect">
            <a:avLst/>
          </a:prstGeom>
          <a:noFill/>
          <a:ln/>
        </p:spPr>
        <p:txBody>
          <a:bodyPr wrap="square" lIns="0" tIns="0" rIns="0" bIns="0" rtlCol="0" anchor="t"/>
          <a:lstStyle/>
          <a:p>
            <a:pPr indent="0" marL="0">
              <a:buNone/>
            </a:pPr>
            <a:r>
              <a:rPr lang="en-US" sz="1100" dirty="0">
                <a:solidFill>
                  <a:srgbClr val="5A6270"/>
                </a:solidFill>
                <a:latin typeface="Meiryo" pitchFamily="34" charset="0"/>
                <a:ea typeface="Meiryo" pitchFamily="34" charset="-122"/>
                <a:cs typeface="Meiryo" pitchFamily="34" charset="-120"/>
              </a:rPr>
              <a:t>クラウドAIでは実現しにくい「データを外に出さない」運用を、固定費で実現します</a:t>
            </a:r>
            <a:endParaRPr lang="en-US" sz="1100" dirty="0"/>
          </a:p>
        </p:txBody>
      </p:sp>
      <p:sp>
        <p:nvSpPr>
          <p:cNvPr id="5" name="Text 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270"/>
                </a:solidFill>
                <a:latin typeface="Meiryo" pitchFamily="34" charset="0"/>
                <a:ea typeface="Meiryo" pitchFamily="34" charset="-122"/>
                <a:cs typeface="Meiryo" pitchFamily="34" charset="-120"/>
              </a:rPr>
              <a:t>8</a:t>
            </a:r>
            <a:endParaRPr lang="en-US" sz="900" dirty="0"/>
          </a:p>
        </p:txBody>
      </p:sp>
      <p:sp>
        <p:nvSpPr>
          <p:cNvPr id="6" name="Shape 4"/>
          <p:cNvSpPr/>
          <p:nvPr/>
        </p:nvSpPr>
        <p:spPr>
          <a:xfrm>
            <a:off x="530352" y="1572768"/>
            <a:ext cx="11130991" cy="1496568"/>
          </a:xfrm>
          <a:prstGeom prst="roundRect">
            <a:avLst>
              <a:gd name="adj" fmla="val 6110"/>
            </a:avLst>
          </a:prstGeom>
          <a:solidFill>
            <a:srgbClr val="FFFFFF"/>
          </a:solidFill>
          <a:ln w="9525">
            <a:solidFill>
              <a:srgbClr val="D9DCE3"/>
            </a:solidFill>
            <a:prstDash val="solid"/>
          </a:ln>
        </p:spPr>
      </p:sp>
      <p:sp>
        <p:nvSpPr>
          <p:cNvPr id="7" name="Shape 5"/>
          <p:cNvSpPr/>
          <p:nvPr/>
        </p:nvSpPr>
        <p:spPr>
          <a:xfrm>
            <a:off x="731520" y="2092452"/>
            <a:ext cx="457200" cy="457200"/>
          </a:xfrm>
          <a:prstGeom prst="ellipse">
            <a:avLst/>
          </a:prstGeom>
          <a:solidFill>
            <a:srgbClr val="14213D"/>
          </a:solidFill>
          <a:ln w="12700">
            <a:solidFill>
              <a:srgbClr val="14213D"/>
            </a:solidFill>
            <a:prstDash val="solid"/>
          </a:ln>
        </p:spPr>
      </p:sp>
      <p:sp>
        <p:nvSpPr>
          <p:cNvPr id="8" name="Text 6"/>
          <p:cNvSpPr txBox="1"/>
          <p:nvPr/>
        </p:nvSpPr>
        <p:spPr>
          <a:xfrm>
            <a:off x="731520" y="20924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9" name="Text 7"/>
          <p:cNvSpPr txBox="1"/>
          <p:nvPr/>
        </p:nvSpPr>
        <p:spPr>
          <a:xfrm>
            <a:off x="1399032" y="1897190"/>
            <a:ext cx="10079431"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外部送信リスクの排除（セキュリティ強化）</a:t>
            </a:r>
            <a:endParaRPr lang="en-US" sz="1400" dirty="0"/>
          </a:p>
        </p:txBody>
      </p:sp>
      <p:sp>
        <p:nvSpPr>
          <p:cNvPr id="10" name="Text 8"/>
          <p:cNvSpPr txBox="1"/>
          <p:nvPr/>
        </p:nvSpPr>
        <p:spPr>
          <a:xfrm>
            <a:off x="1399032" y="2228660"/>
            <a:ext cx="10079431" cy="516255"/>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クラウドAIと異なり、入力データが外部サーバーへ送信されない構成。顧客データ・設定ファイル・スタックトレースを投入可能</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オフライン構成のため、クラウドAI利用時に必要なデータ送信先の審査が不要。監査対応の説明が容易</a:t>
            </a:r>
            <a:endParaRPr lang="en-US" sz="1150" dirty="0"/>
          </a:p>
        </p:txBody>
      </p:sp>
      <p:sp>
        <p:nvSpPr>
          <p:cNvPr id="11" name="Shape 9"/>
          <p:cNvSpPr/>
          <p:nvPr/>
        </p:nvSpPr>
        <p:spPr>
          <a:xfrm>
            <a:off x="530352" y="3215640"/>
            <a:ext cx="11130991" cy="1496568"/>
          </a:xfrm>
          <a:prstGeom prst="roundRect">
            <a:avLst>
              <a:gd name="adj" fmla="val 6110"/>
            </a:avLst>
          </a:prstGeom>
          <a:solidFill>
            <a:srgbClr val="FFFFFF"/>
          </a:solidFill>
          <a:ln w="9525">
            <a:solidFill>
              <a:srgbClr val="D9DCE3"/>
            </a:solidFill>
            <a:prstDash val="solid"/>
          </a:ln>
        </p:spPr>
      </p:sp>
      <p:sp>
        <p:nvSpPr>
          <p:cNvPr id="12" name="Shape 10"/>
          <p:cNvSpPr/>
          <p:nvPr/>
        </p:nvSpPr>
        <p:spPr>
          <a:xfrm>
            <a:off x="731520" y="3735324"/>
            <a:ext cx="457200" cy="457200"/>
          </a:xfrm>
          <a:prstGeom prst="ellipse">
            <a:avLst/>
          </a:prstGeom>
          <a:solidFill>
            <a:srgbClr val="14213D"/>
          </a:solidFill>
          <a:ln w="12700">
            <a:solidFill>
              <a:srgbClr val="14213D"/>
            </a:solidFill>
            <a:prstDash val="solid"/>
          </a:ln>
        </p:spPr>
      </p:sp>
      <p:sp>
        <p:nvSpPr>
          <p:cNvPr id="13" name="Text 11"/>
          <p:cNvSpPr txBox="1"/>
          <p:nvPr/>
        </p:nvSpPr>
        <p:spPr>
          <a:xfrm>
            <a:off x="731520" y="37353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4" name="Text 12"/>
          <p:cNvSpPr txBox="1"/>
          <p:nvPr/>
        </p:nvSpPr>
        <p:spPr>
          <a:xfrm>
            <a:off x="1399032" y="3540061"/>
            <a:ext cx="10079431"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API従量課金・月額費用ゼロ（費用固定）</a:t>
            </a:r>
            <a:endParaRPr lang="en-US" sz="1400" dirty="0"/>
          </a:p>
        </p:txBody>
      </p:sp>
      <p:sp>
        <p:nvSpPr>
          <p:cNvPr id="15" name="Text 13"/>
          <p:cNvSpPr txBox="1"/>
          <p:nvPr/>
        </p:nvSpPr>
        <p:spPr>
          <a:xfrm>
            <a:off x="1399032" y="3871531"/>
            <a:ext cx="10079431" cy="516255"/>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API従量課金や月額サブスクリプション費用が発生せず、初期費用のみで24時間365日利用可能</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電気代（高負荷時約300〜600W）と年間保守（オプション）を除き、長期運用のTCOを抑制</a:t>
            </a:r>
            <a:endParaRPr lang="en-US" sz="1150" dirty="0"/>
          </a:p>
        </p:txBody>
      </p:sp>
      <p:sp>
        <p:nvSpPr>
          <p:cNvPr id="16" name="Shape 14"/>
          <p:cNvSpPr/>
          <p:nvPr/>
        </p:nvSpPr>
        <p:spPr>
          <a:xfrm>
            <a:off x="530352" y="4858512"/>
            <a:ext cx="11130991" cy="1496568"/>
          </a:xfrm>
          <a:prstGeom prst="roundRect">
            <a:avLst>
              <a:gd name="adj" fmla="val 6110"/>
            </a:avLst>
          </a:prstGeom>
          <a:solidFill>
            <a:srgbClr val="FFFFFF"/>
          </a:solidFill>
          <a:ln w="9525">
            <a:solidFill>
              <a:srgbClr val="D9DCE3"/>
            </a:solidFill>
            <a:prstDash val="solid"/>
          </a:ln>
        </p:spPr>
      </p:sp>
      <p:sp>
        <p:nvSpPr>
          <p:cNvPr id="17" name="Shape 15"/>
          <p:cNvSpPr/>
          <p:nvPr/>
        </p:nvSpPr>
        <p:spPr>
          <a:xfrm>
            <a:off x="731520" y="5378196"/>
            <a:ext cx="457200" cy="457200"/>
          </a:xfrm>
          <a:prstGeom prst="ellipse">
            <a:avLst/>
          </a:prstGeom>
          <a:solidFill>
            <a:srgbClr val="14213D"/>
          </a:solidFill>
          <a:ln w="12700">
            <a:solidFill>
              <a:srgbClr val="14213D"/>
            </a:solidFill>
            <a:prstDash val="solid"/>
          </a:ln>
        </p:spPr>
      </p:sp>
      <p:sp>
        <p:nvSpPr>
          <p:cNvPr id="18" name="Text 16"/>
          <p:cNvSpPr txBox="1"/>
          <p:nvPr/>
        </p:nvSpPr>
        <p:spPr>
          <a:xfrm>
            <a:off x="731520" y="53781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9" name="Text 17"/>
          <p:cNvSpPr txBox="1"/>
          <p:nvPr/>
        </p:nvSpPr>
        <p:spPr>
          <a:xfrm>
            <a:off x="1399032" y="5182934"/>
            <a:ext cx="10079431" cy="313182"/>
          </a:xfrm>
          <a:prstGeom prst="rect">
            <a:avLst/>
          </a:prstGeom>
          <a:noFill/>
          <a:ln/>
        </p:spPr>
        <p:txBody>
          <a:bodyPr wrap="square" lIns="254" tIns="254" rIns="254" bIns="254" rtlCol="0" anchor="t"/>
          <a:lstStyle/>
          <a:p>
            <a:pPr indent="0" marL="0">
              <a:buNone/>
            </a:pPr>
            <a:r>
              <a:rPr lang="en-US" sz="1400" b="1" dirty="0">
                <a:solidFill>
                  <a:srgbClr val="14213D"/>
                </a:solidFill>
                <a:latin typeface="Meiryo" pitchFamily="34" charset="0"/>
                <a:ea typeface="Meiryo" pitchFamily="34" charset="-122"/>
                <a:cs typeface="Meiryo" pitchFamily="34" charset="-120"/>
              </a:rPr>
              <a:t>システム保守・障害対応のスピードアップと標準化</a:t>
            </a:r>
            <a:endParaRPr lang="en-US" sz="1400" dirty="0"/>
          </a:p>
        </p:txBody>
      </p:sp>
      <p:sp>
        <p:nvSpPr>
          <p:cNvPr id="20" name="Text 18"/>
          <p:cNvSpPr txBox="1"/>
          <p:nvPr/>
        </p:nvSpPr>
        <p:spPr>
          <a:xfrm>
            <a:off x="1399032" y="5514404"/>
            <a:ext cx="10079431" cy="516255"/>
          </a:xfrm>
          <a:prstGeom prst="rect">
            <a:avLst/>
          </a:prstGeom>
          <a:noFill/>
          <a:ln/>
        </p:spPr>
        <p:txBody>
          <a:bodyPr wrap="square" lIns="254" tIns="254" rIns="254" bIns="254" rtlCol="0" anchor="t"/>
          <a:lstStyle/>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エラー原因の切り分けと一次対応案の作成時間を短縮。構造化された出力で報告品質を統一</a:t>
            </a:r>
            <a:endParaRPr lang="en-US" sz="1150" dirty="0"/>
          </a:p>
          <a:p>
            <a:pPr marL="152400" indent="-152400">
              <a:spcAft>
                <a:spcPts val="300"/>
              </a:spcAft>
              <a:buSzPct val="100000"/>
              <a:buChar char="•"/>
            </a:pPr>
            <a:r>
              <a:rPr lang="en-US" sz="1150" dirty="0">
                <a:solidFill>
                  <a:srgbClr val="1A1A1A"/>
                </a:solidFill>
                <a:latin typeface="Meiryo" pitchFamily="34" charset="0"/>
                <a:ea typeface="Meiryo" pitchFamily="34" charset="-122"/>
                <a:cs typeface="Meiryo" pitchFamily="34" charset="-120"/>
              </a:rPr>
              <a:t>経験の浅い保守エンジニアも一次切り分けの叩き台を即時に得られ、ベテランのレビュー負荷を軽減。最終判断は担当者が行う前提で運用</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ローカルLLM導入提案 改訂版</dc:title>
  <dc:subject>PptxGenJS Presentation</dc:subject>
  <dc:creator>PptxGenJS</dc:creator>
  <cp:lastModifiedBy>PptxGenJS</cp:lastModifiedBy>
  <cp:revision>1</cp:revision>
  <dcterms:created xsi:type="dcterms:W3CDTF">2026-10-14T07:30:10Z</dcterms:created>
  <dcterms:modified xsi:type="dcterms:W3CDTF">2026-10-14T07:30:10Z</dcterms:modified>
</cp:coreProperties>
</file>