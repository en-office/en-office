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" id="{02dd5785-b1fa-46fc-ea7f-50296903cb96}">
          <p14:sldIdLst>
            <p14:sldId id="256"/>
          </p14:sldIdLst>
        </p14:section>
        <p14:section name="サマリー" id="{3dee142b-0d27-518a-1f5b-dd6ff8354704}">
          <p14:sldIdLst>
            <p14:sldId id="257"/>
          </p14:sldIdLst>
        </p14:section>
        <p14:section name="PC要件" id="{3f293ae4-204a-cbb5-b4a0-eac9523ff97c}">
          <p14:sldIdLst>
            <p14:sldId id="258"/>
            <p14:sldId id="259"/>
            <p14:sldId id="260"/>
            <p14:sldId id="261"/>
            <p14:sldId id="262"/>
          </p14:sldIdLst>
        </p14:section>
        <p14:section name="工数見積" id="{3a744276-8daa-939c-b1f3-a0aa142ddf75}">
          <p14:sldIdLst>
            <p14:sldId id="263"/>
            <p14:sldId id="264"/>
            <p14:sldId id="265"/>
          </p14:sldIdLst>
        </p14:section>
        <p14:section name="次のステップ" id="{c3bc11ba-1b55-8c42-0e75-4cb4960af742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A"/>
                </a:solidFill>
                <a:latin typeface="+mn-lt"/>
              </a:rPr>
              <a:t>総合評価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総合</c:v>
                </c:pt>
              </c:strCache>
            </c:strRef>
          </c:tx>
          <c:spPr>
            <a:solidFill>
              <a:srgbClr val="CBD3D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BD3D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BD3D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BD3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8A7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BD3D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BD3DD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A-1</c:v>
                  </c:pt>
                  <c:pt idx="1">
                    <c:v>A-2</c:v>
                  </c:pt>
                  <c:pt idx="2">
                    <c:v>B-1</c:v>
                  </c:pt>
                  <c:pt idx="3">
                    <c:v>B-2</c:v>
                  </c:pt>
                  <c:pt idx="4">
                    <c:v>C-1</c:v>
                  </c:pt>
                  <c:pt idx="5">
                    <c:v>C-2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2.6</c:v>
                </c:pt>
                <c:pt idx="1">
                  <c:v>2.4</c:v>
                </c:pt>
                <c:pt idx="2">
                  <c:v>3.4</c:v>
                </c:pt>
                <c:pt idx="3">
                  <c:v>3.6</c:v>
                </c:pt>
                <c:pt idx="4">
                  <c:v>3.4</c:v>
                </c:pt>
                <c:pt idx="5">
                  <c:v>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上限見込み（GB）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&quot;GB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8A7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E5C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BD3D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OS・ツール・コンテナ</c:v>
                  </c:pt>
                  <c:pt idx="1">
                    <c:v>モデル（5〜8本）</c:v>
                  </c:pt>
                  <c:pt idx="2">
                    <c:v>RAG・ログ・ソース</c:v>
                  </c:pt>
                  <c:pt idx="3">
                    <c:v>空き容量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300</c:v>
                </c:pt>
                <c:pt idx="2">
                  <c:v>300</c:v>
                </c:pt>
                <c:pt idx="3">
                  <c:v>1200</c:v>
                </c:pt>
              </c:numCache>
            </c:numRef>
          </c:val>
        </c:ser>
        <c:dLbls>
          <c:numFmt formatCode="#,##0&quot;GB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A"/>
                </a:solidFill>
                <a:latin typeface="+mn-lt"/>
              </a:rPr>
              <a:t>フェーズ別工数（人日）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基準工数</c:v>
                </c:pt>
              </c:strCache>
            </c:strRef>
          </c:tx>
          <c:spPr>
            <a:solidFill>
              <a:srgbClr val="CBD3D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フェーズ1
（11〜12月）</c:v>
                  </c:pt>
                  <c:pt idx="1">
                    <c:v>フェーズ2
（1〜2月）</c:v>
                  </c:pt>
                  <c:pt idx="2">
                    <c:v>フェーズ3
（2〜3月）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23</c:v>
                </c:pt>
                <c:pt idx="2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見積（×1.2）</c:v>
                </c:pt>
              </c:strCache>
            </c:strRef>
          </c:tx>
          <c:spPr>
            <a:solidFill>
              <a:srgbClr val="0E8A7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フェーズ1
（11〜12月）</c:v>
                  </c:pt>
                  <c:pt idx="1">
                    <c:v>フェーズ2
（1〜2月）</c:v>
                  </c:pt>
                  <c:pt idx="2">
                    <c:v>フェーズ3
（2〜3月）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27.6</c:v>
                </c:pt>
                <c:pt idx="1">
                  <c:v>27.6</c:v>
                </c:pt>
                <c:pt idx="2">
                  <c:v>21.6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5F6B7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642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642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ローカルLLM構築支援プロジェクト｜PC調達検討・工数見積（概算）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ローカルLLM用PC 調達検討と作業工数見積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PC構成別の予算・性能評価、調達期間、フェーズ別工数（概算）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2026年10月　第1版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結論：RTX 5060 Ti×2・メモリ64GB構成を推奨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予算60万円の範囲で、LLMとエージェントを同じPCで動かせる構成です。</a:t>
            </a:r>
            <a:endParaRPr lang="en-US" sz="1500" dirty="0"/>
          </a:p>
        </p:txBody>
      </p:sp>
      <p:sp>
        <p:nvSpPr>
          <p:cNvPr id="4" name="stat-0"/>
          <p:cNvSpPr/>
          <p:nvPr/>
        </p:nvSpPr>
        <p:spPr>
          <a:xfrm>
            <a:off x="548640" y="1691640"/>
            <a:ext cx="34747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推奨構成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B-2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RTX 5060 Ti 16GB×2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メモリ 32GB×2（64GB）</a:t>
            </a:r>
            <a:endParaRPr lang="en-US" sz="1300" dirty="0"/>
          </a:p>
        </p:txBody>
      </p:sp>
      <p:sp>
        <p:nvSpPr>
          <p:cNvPr id="8" name="stat-1"/>
          <p:cNvSpPr/>
          <p:nvPr/>
        </p:nvSpPr>
        <p:spPr>
          <a:xfrm>
            <a:off x="4343400" y="1691640"/>
            <a:ext cx="34747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想定価格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40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約44〜65万円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108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予算60万円の上限付近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ケース・電源で調整</a:t>
            </a:r>
            <a:endParaRPr lang="en-US" sz="1300" dirty="0"/>
          </a:p>
        </p:txBody>
      </p:sp>
      <p:sp>
        <p:nvSpPr>
          <p:cNvPr id="12" name="stat-2"/>
          <p:cNvSpPr/>
          <p:nvPr/>
        </p:nvSpPr>
        <p:spPr>
          <a:xfrm>
            <a:off x="8138160" y="1691640"/>
            <a:ext cx="347472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当社支援工数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240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76.8人日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1089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フェーズ1〜3合計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（1.2倍のバッファ込み）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RTX 5090 搭載PCは約118〜140万円と、予算の約2倍のため対象外（予算増額時のみ再検討）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Mac mini M5 Pro は予算内だが、生成速度と同時利用に制約があり、エージェント用途では次点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フェーズ1（11月〜）に間に合わせるため、10月末〜11月初旬に発注判断が必要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メモリ構成の考え方：用途で32GBか64GBかを決める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メモリはいずれも2本挿し（デュアルチャネル）で構成します。</a:t>
            </a:r>
            <a:endParaRPr lang="en-US" sz="1500" dirty="0"/>
          </a:p>
        </p:txBody>
      </p:sp>
      <p:sp>
        <p:nvSpPr>
          <p:cNvPr id="4" name="mem-card-0"/>
          <p:cNvSpPr/>
          <p:nvPr/>
        </p:nvSpPr>
        <p:spPr>
          <a:xfrm>
            <a:off x="548640" y="1691640"/>
            <a:ext cx="53949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mem-num-0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LLMの構築のみ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メモリ 32GB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16GB × 2枚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04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エージェントは作業用PCで動かす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LLM用PCは推論サーバに専念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後から32GB×2に交換可能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800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該当：B-1 ／ C-1</a:t>
            </a:r>
            <a:endParaRPr lang="en-US" sz="1200" dirty="0"/>
          </a:p>
        </p:txBody>
      </p:sp>
      <p:sp>
        <p:nvSpPr>
          <p:cNvPr id="12" name="mem-card-1"/>
          <p:cNvSpPr/>
          <p:nvPr/>
        </p:nvSpPr>
        <p:spPr>
          <a:xfrm>
            <a:off x="6217920" y="1691640"/>
            <a:ext cx="53949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mem-num-1"/>
          <p:cNvSpPr/>
          <p:nvPr/>
        </p:nvSpPr>
        <p:spPr>
          <a:xfrm>
            <a:off x="6492240" y="1920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1920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LLM＋エージェントを同一PCで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メモリ 64GB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32GB × 2枚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52044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エージェント・RAG・コンテナが同居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作業用PCの性能に依存しない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本検討の推奨パターン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4800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該当：B-2 ／ C-2</a:t>
            </a:r>
            <a:endParaRPr lang="en-US" sz="1200" dirty="0"/>
          </a:p>
        </p:txBody>
      </p:sp>
      <p:sp>
        <p:nvSpPr>
          <p:cNvPr id="20" name="mac-note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Mac の場合：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32GBの選択肢がなく、CPUとGPUでメモリを共有するため、LLMのみで48GB、エージェント同居で64GBが必要です。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PC予算一覧（税込・概算、ストレージ2TB）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RTX 5090 搭載PCは2026年10月時点で約118万円からと高騰しており、予算60万円では調達できません。</a:t>
            </a:r>
            <a:endParaRPr lang="en-US" sz="1500" dirty="0"/>
          </a:p>
        </p:txBody>
      </p:sp>
      <p:graphicFrame>
        <p:nvGraphicFramePr>
          <p:cNvPr id="5" name="budge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94560"/>
                <a:gridCol w="1920240"/>
                <a:gridCol w="1463040"/>
                <a:gridCol w="1828800"/>
                <a:gridCol w="1554480"/>
                <a:gridCol w="1463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メモリ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想定価格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予算60万円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調達期間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A-1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Mac mini M5 Pro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LLMのみ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48GB（共有）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約50万円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A7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 収まる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約1〜3週間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A-2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Mac mini M5 Pro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LLM＋エージェント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64GB（共有）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約55〜57万円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A7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 収まる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約2〜4週間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RTX 5060 Ti×2 PC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LLMのみ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16GB×2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約42〜60万円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8A7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 収まる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約1〜3週間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RTX 5060 Ti×2 PC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LLM＋エージェント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32GB×2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約44〜65万円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27C0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 上限付近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約1〜3週間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C-1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RTX 5090 PC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LLMのみ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16GB×2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約118〜130万円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322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✕ 約2倍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数日〜約4週間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C-2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RTX 5090 PC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LLM＋エージェント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32GB×2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約125〜140万円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B8322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✕ 約2倍超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数日〜約4週間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Mac：本体299,800円＋メモリ追加（48GB +10.8万円／64GB +16.2〜18万円）＋2TB化（約+9万円、推定）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RTX 5060 Ti×2：パーツ積み上げの試算。BTO購入時は組立費等で数万円上がる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accent5"/>
                </a:solidFill>
              </a:rPr>
              <a:t>RTX 5090：BTO販売価格（2026年10月）に、64GB化の差額（約+6〜10万円）を加算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性能評価の見込み（1＝悪い〜5＝良い）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総合は7項目の単純平均。速度はメモリ帯域からの推定値で、実測値ではありません。</a:t>
            </a:r>
            <a:endParaRPr lang="en-US" sz="1500" dirty="0"/>
          </a:p>
        </p:txBody>
      </p:sp>
      <p:graphicFrame>
        <p:nvGraphicFramePr>
          <p:cNvPr id="6" name="sco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914400"/>
        </p:xfrm>
        <a:graphic>
          <a:graphicData uri="http://schemas.openxmlformats.org/drawingml/2006/table">
            <a:tbl>
              <a:tblPr/>
              <a:tblGrid>
                <a:gridCol w="2048256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  <a:gridCol w="65836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速度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モデル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エージ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ェント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同時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拡張性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予算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適合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A-1 Mac 48GB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7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7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2.6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A-2 Mac 64GB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7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7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B-1 5060Ti×2・32GB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B-2 5060Ti×2・64GB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C-1 5090・32GB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7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C-2 5090・64GB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C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C7C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3.7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score-chart" descr=""/>
          <p:cNvGraphicFramePr/>
          <p:nvPr/>
        </p:nvGraphicFramePr>
        <p:xfrm>
          <a:off x="8138160" y="1554480"/>
          <a:ext cx="347472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core-note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51206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総合点の最高はC-2（3.7）ですが、</a:t>
            </a:r>
            <a:pPr indent="0" marL="0">
              <a:buNone/>
            </a:pPr>
            <a:r>
              <a:rPr lang="en-US" sz="1400" b="1" dirty="0">
                <a:solidFill>
                  <a:srgbClr val="B83227"/>
                </a:solidFill>
              </a:rPr>
              <a:t>予算の2倍を超えるため対象外。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</a:rPr>
              <a:t>予算内ではB-2（3.6）が最良で、特にエージェントの快適さで他の予算内候補を上回ります。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候補別の特徴と調達期間</a:t>
            </a:r>
            <a:endParaRPr lang="en-US" sz="2800" dirty="0"/>
          </a:p>
        </p:txBody>
      </p:sp>
      <p:sp>
        <p:nvSpPr>
          <p:cNvPr id="3" name="cand-0"/>
          <p:cNvSpPr/>
          <p:nvPr/>
        </p:nvSpPr>
        <p:spPr>
          <a:xfrm>
            <a:off x="548640" y="1188720"/>
            <a:ext cx="3520440" cy="50292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nd-dot-0"/>
          <p:cNvSpPr/>
          <p:nvPr/>
        </p:nvSpPr>
        <p:spPr>
          <a:xfrm>
            <a:off x="822960" y="1417320"/>
            <a:ext cx="292608" cy="29260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Mac mini M5 Pro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28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2026年9月発売・最大64GB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A7E"/>
                </a:solidFill>
              </a:rPr>
              <a:t>長所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7860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静音・省電力で設置が容易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大きなモデルも載る（〜70B級）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</a:rPr>
              <a:t>短所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873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生成速度が遅い（27B級で約10〜12 tok/s）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同時利用は1〜2名、メモリ増設不可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閉域網での macOS 利用可否を要確認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調達期間：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約1〜3週間（64GBは品薄の可能性）</a:t>
            </a:r>
            <a:endParaRPr lang="en-US" sz="1300" dirty="0"/>
          </a:p>
        </p:txBody>
      </p:sp>
      <p:sp>
        <p:nvSpPr>
          <p:cNvPr id="12" name="cand-1"/>
          <p:cNvSpPr/>
          <p:nvPr/>
        </p:nvSpPr>
        <p:spPr>
          <a:xfrm>
            <a:off x="4297680" y="1188720"/>
            <a:ext cx="3520440" cy="50292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nd-dot-1"/>
          <p:cNvSpPr/>
          <p:nvPr/>
        </p:nvSpPr>
        <p:spPr>
          <a:xfrm>
            <a:off x="4572000" y="1417320"/>
            <a:ext cx="292608" cy="29260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8348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RTX 5060 Ti 16GB×2 PC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1828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VRAM 32GB（16GB×2）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A7E"/>
                </a:solidFill>
              </a:rPr>
              <a:t>長所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57860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予算内で VRAM 32GB を確保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vLLM で同時利用にも対応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メモリ・GPUの交換が可能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</a:rPr>
              <a:t>短所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0873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2枚分割による性能ロスあり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PCIe x8/x8 対応マザーボードが必要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調達期間：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約1〜3週間（パーツ在庫による）</a:t>
            </a:r>
            <a:endParaRPr lang="en-US" sz="1300" dirty="0"/>
          </a:p>
        </p:txBody>
      </p:sp>
      <p:sp>
        <p:nvSpPr>
          <p:cNvPr id="21" name="cand-2"/>
          <p:cNvSpPr/>
          <p:nvPr/>
        </p:nvSpPr>
        <p:spPr>
          <a:xfrm>
            <a:off x="8046720" y="1188720"/>
            <a:ext cx="3520440" cy="502920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cand-dot-2"/>
          <p:cNvSpPr/>
          <p:nvPr/>
        </p:nvSpPr>
        <p:spPr>
          <a:xfrm>
            <a:off x="8321040" y="1417320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3252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RTX 5090 PC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18288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VRAM 32GB（1枚）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8A7E"/>
                </a:solidFill>
              </a:rPr>
              <a:t>長所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257860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最も高速（27B級で約50〜70 tok/s）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分割不要で構成がシンプル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3227"/>
                </a:solidFill>
              </a:rPr>
              <a:t>短所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0873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約118〜140万円と予算の約2倍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1,000W級電源・発熱対策が必要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53949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調達期間：</a:t>
            </a:r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在庫品は数日、受注生産は約2〜4週間</a:t>
            </a:r>
            <a:endParaRPr lang="en-US" sz="1300" dirty="0"/>
          </a:p>
        </p:txBody>
      </p:sp>
      <p:sp>
        <p:nvSpPr>
          <p:cNvPr id="30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ストレージは2TBで十分、発注判断は10月末〜11月初旬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ストレージ（SSD）の想定使用量</a:t>
            </a:r>
            <a:endParaRPr lang="en-US" sz="1600" dirty="0"/>
          </a:p>
        </p:txBody>
      </p:sp>
      <p:graphicFrame>
        <p:nvGraphicFramePr>
          <p:cNvPr id="4" name="storage-chart" descr=""/>
          <p:cNvGraphicFramePr/>
          <p:nvPr/>
        </p:nvGraphicFramePr>
        <p:xfrm>
          <a:off x="548640" y="160020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orage-note"/>
          <p:cNvSpPr/>
          <p:nvPr/>
        </p:nvSpPr>
        <p:spPr>
          <a:xfrm>
            <a:off x="548640" y="5074920"/>
            <a:ext cx="51206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0749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7E"/>
                </a:solidFill>
              </a:rPr>
              <a:t>使用量は約0.5〜0.8TB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。モデルの比較評価やデータの追加にも余裕があります。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調達スケジュール（逆算）</a:t>
            </a:r>
            <a:endParaRPr lang="en-US" sz="1600" dirty="0"/>
          </a:p>
        </p:txBody>
      </p:sp>
      <p:sp>
        <p:nvSpPr>
          <p:cNvPr id="8" name="timeline-line"/>
          <p:cNvSpPr/>
          <p:nvPr/>
        </p:nvSpPr>
        <p:spPr>
          <a:xfrm>
            <a:off x="6583680" y="1874520"/>
            <a:ext cx="0" cy="3931920"/>
          </a:xfrm>
          <a:prstGeom prst="line">
            <a:avLst/>
          </a:prstGeom>
          <a:noFill/>
          <a:ln w="25400">
            <a:solidFill>
              <a:srgbClr val="CBD3DD"/>
            </a:solidFill>
            <a:prstDash val="solid"/>
          </a:ln>
        </p:spPr>
      </p:sp>
      <p:sp>
        <p:nvSpPr>
          <p:cNvPr id="9" name="tl-0"/>
          <p:cNvSpPr/>
          <p:nvPr/>
        </p:nvSpPr>
        <p:spPr>
          <a:xfrm>
            <a:off x="6355080" y="169164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5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1645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10月末〜11月初旬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1920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発注判断・見積取得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2240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見積の有効期限（1〜2週間）に注意</a:t>
            </a:r>
            <a:endParaRPr lang="en-US" sz="1200" dirty="0"/>
          </a:p>
        </p:txBody>
      </p:sp>
      <p:sp>
        <p:nvSpPr>
          <p:cNvPr id="14" name="tl-1"/>
          <p:cNvSpPr/>
          <p:nvPr/>
        </p:nvSpPr>
        <p:spPr>
          <a:xfrm>
            <a:off x="6355080" y="274320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550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2697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11月初旬〜中旬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2971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納品（1〜3週間）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在庫・構成変更で前後</a:t>
            </a:r>
            <a:endParaRPr lang="en-US" sz="1200" dirty="0"/>
          </a:p>
        </p:txBody>
      </p:sp>
      <p:sp>
        <p:nvSpPr>
          <p:cNvPr id="19" name="tl-2"/>
          <p:cNvSpPr/>
          <p:nvPr/>
        </p:nvSpPr>
        <p:spPr>
          <a:xfrm>
            <a:off x="6355080" y="3794760"/>
            <a:ext cx="457200" cy="4572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550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7490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11月中旬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4023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端末室への搬入審査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3434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審査期間を別途確保</a:t>
            </a:r>
            <a:endParaRPr lang="en-US" sz="1200" dirty="0"/>
          </a:p>
        </p:txBody>
      </p:sp>
      <p:sp>
        <p:nvSpPr>
          <p:cNvPr id="24" name="tl-3"/>
          <p:cNvSpPr/>
          <p:nvPr/>
        </p:nvSpPr>
        <p:spPr>
          <a:xfrm>
            <a:off x="6355080" y="4846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35508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4800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11〜12月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0749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フェーズ1 開始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5394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LLM構築・エージェント接続</a:t>
            </a:r>
            <a:endParaRPr lang="en-US" sz="1200" dirty="0"/>
          </a:p>
        </p:txBody>
      </p:sp>
      <p:sp>
        <p:nvSpPr>
          <p:cNvPr id="29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作業工数見積：合計76.8人日（約3.8人月）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当社支援分の概算。各作業の基準工数に1.2倍のバッファを掛けています。</a:t>
            </a:r>
            <a:endParaRPr lang="en-US" sz="1500" dirty="0"/>
          </a:p>
        </p:txBody>
      </p:sp>
      <p:graphicFrame>
        <p:nvGraphicFramePr>
          <p:cNvPr id="4" name="effort-chart" descr=""/>
          <p:cNvGraphicFramePr/>
          <p:nvPr/>
        </p:nvGraphicFramePr>
        <p:xfrm>
          <a:off x="548640" y="160020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eff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600200"/>
          <a:ext cx="47091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103120"/>
                <a:gridCol w="685800"/>
                <a:gridCol w="777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主な支援内容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フェーズ1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LLM構築・エージェント接続の支援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23.0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27.6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フェーズ2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RAG・指示書・Tool設計の支援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23.0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27.6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フェーズ3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試行運用・不具合解消の支援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18.0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21.6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合計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64.0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8A7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76.8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</a:tbl>
          </a:graphicData>
        </a:graphic>
      </p:graphicFrame>
      <p:sp>
        <p:nvSpPr>
          <p:cNvPr id="6" name="effort-note"/>
          <p:cNvSpPr/>
          <p:nvPr/>
        </p:nvSpPr>
        <p:spPr>
          <a:xfrm>
            <a:off x="6903720" y="4434840"/>
            <a:ext cx="47091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178040" y="457200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工数の前提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委託元（NTTD様）の構築作業は含まない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支援はリモート・定例会中心、端末室訪問は各フェーズ数回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作業内訳：フェーズ1（11〜12月）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フェーズ1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　LLMでエージェントが最低限動く状態の構築支援</a:t>
            </a:r>
            <a:endParaRPr lang="en-US" sz="1400" dirty="0"/>
          </a:p>
        </p:txBody>
      </p:sp>
      <p:graphicFrame>
        <p:nvGraphicFramePr>
          <p:cNvPr id="10" name="table-フェーズ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5120640"/>
                <a:gridCol w="64008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作業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キックオフ・要件確認（利用者・環境・搬入ルール）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端末選定・構成レビュー支援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構築手順書・搬入物リストの作成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搬入物の準備支援（取得・検証）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構築ハンズオン（OS・ドライバ・Ollama・モデル）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エージェントCLIの接続ハンズオン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1-7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モデルの比較・性能測定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トラブルシューティング支援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1-9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進捗管理・報告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8A7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</a:tbl>
          </a:graphicData>
        </a:graphic>
      </p:graphicFrame>
      <p:sp>
        <p:nvSpPr>
          <p:cNvPr id="5" name="p1-goal"/>
          <p:cNvSpPr/>
          <p:nvPr/>
        </p:nvSpPr>
        <p:spPr>
          <a:xfrm>
            <a:off x="7863840" y="1645920"/>
            <a:ext cx="3749040" cy="4206240"/>
          </a:xfrm>
          <a:prstGeom prst="roundRect">
            <a:avLst>
              <a:gd name="adj" fmla="val 19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1-goal-icon"/>
          <p:cNvSpPr/>
          <p:nvPr/>
        </p:nvSpPr>
        <p:spPr>
          <a:xfrm>
            <a:off x="8138160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82396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12月末のゴール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697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作業用PCのエージェントCLIから Gemma 4 を使い、ログから被疑箇所を提示できること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023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比較対象：Qwen3.6・gpt-oss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accent5"/>
                </a:solidFill>
              </a:rPr>
              <a:t>性能は実機で実測し報告</a:t>
            </a:r>
            <a:endParaRPr lang="en-US" sz="1400" dirty="0"/>
          </a:p>
        </p:txBody>
      </p:sp>
      <p:sp>
        <p:nvSpPr>
          <p:cNvPr id="11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作業内訳：フェーズ2（1〜2月）・フェーズ3（2〜3月）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フェーズ2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　カスタマイズ支援</a:t>
            </a:r>
            <a:endParaRPr lang="en-US" sz="1400" dirty="0"/>
          </a:p>
        </p:txBody>
      </p:sp>
      <p:graphicFrame>
        <p:nvGraphicFramePr>
          <p:cNvPr id="11" name="table-フェーズ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3949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566160"/>
                <a:gridCol w="64008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作業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RAG設計のレクチャ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過去Q&amp;Aの整形方針・サンプル作成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指示書（業務ルール・用語）の設計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Tool/Skill設計のレクチャ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4.8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評価セットの作成・精度評価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エージェントCLIの比較評価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2-7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トラブルシューティング支援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2-8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進捗管理・報告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8A7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</a:rPr>
              <a:t>フェーズ3</a:t>
            </a:r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</a:rPr>
              <a:t>　改善・不具合解消</a:t>
            </a:r>
            <a:endParaRPr lang="en-US" sz="1400" dirty="0"/>
          </a:p>
        </p:txBody>
      </p:sp>
      <p:graphicFrame>
        <p:nvGraphicFramePr>
          <p:cNvPr id="21" name="table-フェーズ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645920"/>
          <a:ext cx="53949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3566160"/>
                <a:gridCol w="64008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#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作業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基準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見積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3-1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試行運用の支援・課題管理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3-2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不具合の解析・改善支援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3-3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精度・性能のチューニング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3-4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運用手順書・ナレッジ移管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3-5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本番DC展開に向けた留意点整理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3-6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最終報告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2.4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18.0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E8A7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21.6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1EE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次のステップ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64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2"/>
                </a:solidFill>
              </a:rPr>
              <a:t>B-2構成（RTX 5060 Ti×2・64GB）で販売店から正式見積を取得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2"/>
                </a:solidFill>
              </a:rPr>
              <a:t>予算超過時の調整方針（ケース・電源のグレード／B-1への切替）を決定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chemeClr val="bg2"/>
                </a:solidFill>
              </a:rPr>
              <a:t>10月末〜11月初旬に発注判断、並行して端末室への搬入申請を開始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cal LLM Procurement">
  <a:themeElements>
    <a:clrScheme name="Local LLM Procurement">
      <a:dk1>
        <a:srgbClr val="1F2933"/>
      </a:dk1>
      <a:lt1>
        <a:srgbClr val="FFFFFF"/>
      </a:lt1>
      <a:dk2>
        <a:srgbClr val="1B2A4A"/>
      </a:dk2>
      <a:lt2>
        <a:srgbClr val="EEF2F7"/>
      </a:lt2>
      <a:accent1>
        <a:srgbClr val="0E8A7E"/>
      </a:accent1>
      <a:accent2>
        <a:srgbClr val="C27C0E"/>
      </a:accent2>
      <a:accent3>
        <a:srgbClr val="B83227"/>
      </a:accent3>
      <a:accent4>
        <a:srgbClr val="3E5C8A"/>
      </a:accent4>
      <a:accent5>
        <a:srgbClr val="8A9BB0"/>
      </a:accent5>
      <a:accent6>
        <a:srgbClr val="6C8E3F"/>
      </a:accent6>
      <a:hlink>
        <a:srgbClr val="0E6BA8"/>
      </a:hlink>
      <a:folHlink>
        <a:srgbClr val="6B4E9B"/>
      </a:folHlink>
    </a:clrScheme>
    <a:fontScheme name="Local LLM Procurement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ローカルLLM用PC 調達検討と工数見積</dc:title>
  <dc:subject>PptxGenJS Presentation</dc:subject>
  <dc:creator>PptxGenJS</dc:creator>
  <cp:lastModifiedBy>PptxGenJS</cp:lastModifiedBy>
  <cp:revision>1</cp:revision>
  <dcterms:created xsi:type="dcterms:W3CDTF">2026-10-26T15:25:28Z</dcterms:created>
  <dcterms:modified xsi:type="dcterms:W3CDTF">2026-10-26T15:25:28Z</dcterms:modified>
</cp:coreProperties>
</file>